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Pacifico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k7TSrQCzaPyL+1VHGawTrrGEx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06B4B9-21E8-46F2-BEF9-0A8A45C0E3CA}">
  <a:tblStyle styleId="{1606B4B9-21E8-46F2-BEF9-0A8A45C0E3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b0079fd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b0079fd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b0079fd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b0079fd7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b0079fd7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b0079fd7e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6000" y="182810"/>
            <a:ext cx="13258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01011010 00110101 11001010 01011101 00101101 10101100 01011010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10100101 01101011 00011010 10110101 01011010 11010101 00101101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242850" y="5248675"/>
            <a:ext cx="13258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11010010 01011010 00110101 11001010 01011101 00101101 10101100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01011010 10100101 01101011 00011010 10110101 01011010 11010101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26215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4526227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47434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5102446" y="1274460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59015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459015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80234" y="12742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980234" y="12743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391828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419116" y="127419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858060" y="12741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6857997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96966" y="12740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7324266" y="12741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790510" y="12740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7790510" y="127439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525" y="1914020"/>
            <a:ext cx="121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DIGITAL LOGIC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823070" y="2354561"/>
            <a:ext cx="10725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 and Simulation of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8-Bit Signed Binary Number Representation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823070" y="4331993"/>
            <a:ext cx="1072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Using the Sign-Magnitude Method</a:t>
            </a:r>
            <a:endParaRPr b="0" i="1" sz="1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TEAM MEMBERS: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2620030230_Ramya Sree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2620030178_Manvitha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2620030188_Bhargav Karthik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2620030194_Shiva Sai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1"/>
          <p:cNvCxnSpPr/>
          <p:nvPr/>
        </p:nvCxnSpPr>
        <p:spPr>
          <a:xfrm>
            <a:off x="5330952" y="5407053"/>
            <a:ext cx="1527000" cy="0"/>
          </a:xfrm>
          <a:prstGeom prst="straightConnector1">
            <a:avLst/>
          </a:prstGeom>
          <a:noFill/>
          <a:ln cap="flat" cmpd="sng" w="254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"/>
          <p:cNvSpPr txBox="1"/>
          <p:nvPr/>
        </p:nvSpPr>
        <p:spPr>
          <a:xfrm>
            <a:off x="2042595" y="5515195"/>
            <a:ext cx="8897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A study of representing and simulating positive &amp; negative integers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within an 8-bit binary word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548640" y="219456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&amp; 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548640" y="137160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Digital systems store everything — including negative numbers — as bits. Since plain binary only expresses magnitude, a dedicated scheme is needed to also encode the sign of a value. The Sign-Magnitude method is the most intuitive of these schemes, closely mirroring how humans write signed numbers on paper (a ‘+’ or ‘–’ followed by the value).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2344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Represent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234440" y="33101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Encode both positive and negative integers within a fixed 8-bit word.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39593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548640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234440" y="39136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234440" y="420624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Define the sign-magnitude bit structure and its encoding/decoding rules.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485546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548640" y="48554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234440" y="48097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234440" y="510235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Model the scheme in software/logic to verify range, zero cases and arithmetic.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452360" y="1417320"/>
            <a:ext cx="4206240" cy="4617720"/>
          </a:xfrm>
          <a:prstGeom prst="roundRect">
            <a:avLst>
              <a:gd fmla="val 1739" name="adj"/>
            </a:avLst>
          </a:prstGeom>
          <a:solidFill>
            <a:srgbClr val="1E2761"/>
          </a:solidFill>
          <a:ln>
            <a:noFill/>
          </a:ln>
          <a:effectLst>
            <a:outerShdw blurRad="101600" rotWithShape="0" algn="bl" dir="5400000" dist="38100">
              <a:srgbClr val="1B1B3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452360" y="1691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AN 8-BIT 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863840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7863840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7863840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ign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302752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8302752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02752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2^6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741664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8741664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741664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2^5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180576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9180576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180576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2^4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619488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9619488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9619488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2^3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0058400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10058400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0058400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2^2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497312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10497312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10497312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2^1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0936224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10936224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0936224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2^0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745236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MSB = Sign Bit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7534660" y="352044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0 = Positive   1 = Negative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9464040" y="3246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Remaining 7 Bits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9464040" y="35204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Represent the Magnitude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2"/>
          <p:cNvCxnSpPr/>
          <p:nvPr/>
        </p:nvCxnSpPr>
        <p:spPr>
          <a:xfrm>
            <a:off x="7818120" y="416052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3A43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"/>
          <p:cNvSpPr txBox="1"/>
          <p:nvPr/>
        </p:nvSpPr>
        <p:spPr>
          <a:xfrm>
            <a:off x="7680960" y="4343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“One bit for sign, the rest for value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closes the gap between binary and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everyday signed notation.”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Ways to Represent Signed Numbers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Three common binary schemes — this project focuses on the 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B3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77240" y="1353312"/>
            <a:ext cx="1508760" cy="384048"/>
          </a:xfrm>
          <a:prstGeom prst="roundRect">
            <a:avLst>
              <a:gd fmla="val 50000" name="adj"/>
            </a:avLst>
          </a:prstGeom>
          <a:solidFill>
            <a:srgbClr val="FF9F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77240" y="135331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FOCUS OF THIS DECK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Sign-Magnitude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22960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DCF5"/>
                </a:solidFill>
                <a:latin typeface="Calibri"/>
                <a:ea typeface="Calibri"/>
                <a:cs typeface="Calibri"/>
                <a:sym typeface="Calibri"/>
              </a:rPr>
              <a:t>MSB stores the sign (0/1); remaining bits store the magnitude, unchanged from unsigned binary.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22960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141B49"/>
          </a:solidFill>
          <a:ln cap="flat" cmpd="sng" w="12700">
            <a:solidFill>
              <a:srgbClr val="141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822960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9F1C"/>
                </a:solidFill>
                <a:latin typeface="Consolas"/>
                <a:ea typeface="Consolas"/>
                <a:cs typeface="Consolas"/>
                <a:sym typeface="Consolas"/>
              </a:rPr>
              <a:t>-5  →  1 0000101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361688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F5F7FC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4636008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1’s Complement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636008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Negative numbers formed by inverting every bit of the positive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36008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4636008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-5  →  1 1111010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174736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F5F7FC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8449056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2’s Complement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449056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Negative numbers formed by inverting all bits, then adding 1. Used in most real hardware.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449056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449056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-5  →  1 1111011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 of the Sign-Magnitude Format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598" y="1764840"/>
            <a:ext cx="960000" cy="960000"/>
          </a:xfrm>
          <a:prstGeom prst="roundRect">
            <a:avLst>
              <a:gd fmla="val 5714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48610" y="1764840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37673" y="2724861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628707" y="173740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628707" y="173740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650444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2^6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52341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708803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763228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2^5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76012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3876012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876012" y="2663149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2^4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999646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999646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999646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2^3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123305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123305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123305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2^2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246939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246939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246939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2^1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370598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370598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8370598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2^0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48548" y="3063240"/>
            <a:ext cx="960000" cy="777300"/>
          </a:xfrm>
          <a:prstGeom prst="roundRect">
            <a:avLst>
              <a:gd fmla="val 7059" name="adj"/>
            </a:avLst>
          </a:prstGeom>
          <a:solidFill>
            <a:srgbClr val="FF9F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548548" y="3127248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Bit 7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548598" y="3371843"/>
            <a:ext cx="96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050"/>
              <a:buFont typeface="Calibri"/>
              <a:buNone/>
            </a:pPr>
            <a:r>
              <a:rPr b="1" lang="en-US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Bit)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737377" y="3113603"/>
            <a:ext cx="6720900" cy="777300"/>
          </a:xfrm>
          <a:prstGeom prst="roundRect">
            <a:avLst>
              <a:gd fmla="val 705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1737364" y="3127186"/>
            <a:ext cx="672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Bits 6 –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37339" y="3410793"/>
            <a:ext cx="672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7-bit Magnitude Field  —  same value as ordinary unsigned binary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48560" y="4160570"/>
            <a:ext cx="3886200" cy="16917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822980" y="445317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822980" y="445317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369090" y="4476053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 Bit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931330" y="5026918"/>
            <a:ext cx="342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The value is positive.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Example: 0 0000101  =  +5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572080" y="4178820"/>
            <a:ext cx="3886200" cy="16917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760550" y="446674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4760550" y="44667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5354860" y="451249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 Bit =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4760550" y="5045130"/>
            <a:ext cx="342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The value is negative.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Example: 1 0000101  =  –5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1737360" y="59893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00"/>
              <a:buFont typeface="Calibri"/>
              <a:buNone/>
            </a:pPr>
            <a:r>
              <a:rPr b="1" i="1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General form:  N = (–1)</a:t>
            </a:r>
            <a:r>
              <a:rPr b="1" i="1" lang="en-US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^SIGN</a:t>
            </a:r>
            <a:r>
              <a:rPr b="1" i="1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 × |Magnitude|,   where the sign bit selects the exponent of –1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4800" y="3063250"/>
            <a:ext cx="3634149" cy="31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Encoding Examples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Decimal values converted into 8-bit sign-magnitude form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5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{1606B4B9-21E8-46F2-BEF9-0A8A45C0E3CA}</a:tableStyleId>
              </a:tblPr>
              <a:tblGrid>
                <a:gridCol w="1554475"/>
                <a:gridCol w="1188725"/>
                <a:gridCol w="2468875"/>
                <a:gridCol w="2862075"/>
                <a:gridCol w="30175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Magnitude (7 bits)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8-bit Sign-Magnitude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+5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–5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+127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positive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–127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negative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(positive)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(negative)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fmla="val 9677" name="adj"/>
            </a:avLst>
          </a:prstGeom>
          <a:solidFill>
            <a:srgbClr val="FFF4E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777240" y="5742432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A00"/>
              </a:buClr>
              <a:buSzPts val="1150"/>
              <a:buFont typeface="Calibri"/>
              <a:buNone/>
            </a:pPr>
            <a:r>
              <a:rPr b="0" i="0" lang="en-US" sz="1750" u="none" cap="none" strike="noStrike">
                <a:solidFill>
                  <a:srgbClr val="7A4A00"/>
                </a:solidFill>
                <a:latin typeface="Calibri"/>
                <a:ea typeface="Calibri"/>
                <a:cs typeface="Calibri"/>
                <a:sym typeface="Calibri"/>
              </a:rPr>
              <a:t>Notice: +0 and –0 have two different bit patterns for the same value — a key quirk of this method (see next slide).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b0079fd7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475" y="172225"/>
            <a:ext cx="3634151" cy="30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fb0079fd7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9650" y="172225"/>
            <a:ext cx="3634149" cy="30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b0079fd7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475" y="3413375"/>
            <a:ext cx="3634151" cy="29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b0079fd7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9650" y="3413375"/>
            <a:ext cx="3634151" cy="29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b0079fd7e_0_0"/>
          <p:cNvSpPr txBox="1"/>
          <p:nvPr/>
        </p:nvSpPr>
        <p:spPr>
          <a:xfrm>
            <a:off x="4741175" y="1525038"/>
            <a:ext cx="8298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+5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2" name="Google Shape;192;g3fb0079fd7e_0_0"/>
          <p:cNvSpPr txBox="1"/>
          <p:nvPr/>
        </p:nvSpPr>
        <p:spPr>
          <a:xfrm>
            <a:off x="6634125" y="1564188"/>
            <a:ext cx="735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-5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3" name="Google Shape;193;g3fb0079fd7e_0_0"/>
          <p:cNvSpPr txBox="1"/>
          <p:nvPr/>
        </p:nvSpPr>
        <p:spPr>
          <a:xfrm>
            <a:off x="4723200" y="4210200"/>
            <a:ext cx="100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+127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4" name="Google Shape;194;g3fb0079fd7e_0_0"/>
          <p:cNvSpPr txBox="1"/>
          <p:nvPr/>
        </p:nvSpPr>
        <p:spPr>
          <a:xfrm>
            <a:off x="6422775" y="4210200"/>
            <a:ext cx="1158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-127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5" name="Google Shape;195;g3fb0079fd7e_0_0"/>
          <p:cNvSpPr/>
          <p:nvPr/>
        </p:nvSpPr>
        <p:spPr>
          <a:xfrm>
            <a:off x="4097550" y="1615050"/>
            <a:ext cx="720300" cy="4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b0079fd7e_0_0"/>
          <p:cNvSpPr/>
          <p:nvPr/>
        </p:nvSpPr>
        <p:spPr>
          <a:xfrm>
            <a:off x="7249350" y="1615050"/>
            <a:ext cx="720300" cy="446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b0079fd7e_0_0"/>
          <p:cNvSpPr/>
          <p:nvPr/>
        </p:nvSpPr>
        <p:spPr>
          <a:xfrm>
            <a:off x="7249350" y="4265100"/>
            <a:ext cx="720300" cy="446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b0079fd7e_0_0"/>
          <p:cNvSpPr/>
          <p:nvPr/>
        </p:nvSpPr>
        <p:spPr>
          <a:xfrm>
            <a:off x="4025625" y="4265100"/>
            <a:ext cx="720300" cy="4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Range and Special Cases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8 bits can and cannot cleanly express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548640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31520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magnitude bits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available for value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233672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4233672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–127 to +127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4416552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representable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decimal range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7918704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7918704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8101584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total bit patterns,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only 255 distinct values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48640" y="361188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Duplicate-Zero Problem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22960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822960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229868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1229868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636776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1636776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043684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2043684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450592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2450592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857500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2857500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264408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3264408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671316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3671316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4315968" y="4251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7A3D"/>
                </a:solidFill>
                <a:latin typeface="Consolas"/>
                <a:ea typeface="Consolas"/>
                <a:cs typeface="Consolas"/>
                <a:sym typeface="Consolas"/>
              </a:rPr>
              <a:t>= +0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822960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22960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229868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1229868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636776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1636776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2043684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2043684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450592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2450592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2857500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2857500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264408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3264408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3671316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3671316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4315968" y="48463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= –0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822960" y="544068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Two encodings map to the same value, wasting a bit pattern and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complicating equality checks in simulation.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263640" y="3611880"/>
            <a:ext cx="539496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Symmetric Range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6"/>
          <p:cNvCxnSpPr/>
          <p:nvPr/>
        </p:nvCxnSpPr>
        <p:spPr>
          <a:xfrm>
            <a:off x="6720840" y="5074920"/>
            <a:ext cx="4663440" cy="0"/>
          </a:xfrm>
          <a:prstGeom prst="straightConnector1">
            <a:avLst/>
          </a:prstGeom>
          <a:noFill/>
          <a:ln cap="flat" cmpd="sng" w="25400">
            <a:solidFill>
              <a:srgbClr val="C7C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6"/>
          <p:cNvSpPr/>
          <p:nvPr/>
        </p:nvSpPr>
        <p:spPr>
          <a:xfrm>
            <a:off x="6656832" y="501091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8988552" y="5010912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11256264" y="5010912"/>
            <a:ext cx="128016" cy="128016"/>
          </a:xfrm>
          <a:prstGeom prst="ellipse">
            <a:avLst/>
          </a:prstGeom>
          <a:solidFill>
            <a:srgbClr val="1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640080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–127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859536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0 / –0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1088136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F7A3D"/>
                </a:solidFill>
                <a:latin typeface="Consolas"/>
                <a:ea typeface="Consolas"/>
                <a:cs typeface="Consolas"/>
                <a:sym typeface="Consolas"/>
              </a:rPr>
              <a:t>+127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6537960" y="54864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Unlike 2’s complement (–128 to +127), sign-magnitude 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perfectly symmetric — at the cost of the duplicate zero above.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7C9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Simulating Sign-Magnitude Arithmetic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Unlike 2’s complement, sign-magnitude cannot simply add bit patterns — the simulation logic must branch on the operand signs before performing magnitude arithmetic.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48640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1348740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134874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658368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 Signs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685800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Extract the MSB of both operands to identify each </a:t>
            </a:r>
            <a:r>
              <a:rPr lang="en-US" sz="1370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number’s</a:t>
            </a: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 sign.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2660904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770632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3570732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3570732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2880360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Compare Signs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2907792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If signs match, add the magnitudes and keep the common sign.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882896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992624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5792724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5792724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5102365" y="2875798"/>
            <a:ext cx="189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Subtract if Differ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5129784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If signs differ, subtract the smaller magnitude from the larger.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7104888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7214616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8014716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8014716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7324344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Assign Result Sign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7351776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Result takes the sign of the operand with the larger magnitude.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9326880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9436608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10236708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10236708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9546336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Check Overflow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9573768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Flag overflow if the magnitude result exceeds 7-bit capacity (127).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548640" y="4937760"/>
            <a:ext cx="11091672" cy="1417320"/>
          </a:xfrm>
          <a:prstGeom prst="roundRect">
            <a:avLst>
              <a:gd fmla="val 516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(+5) + (–3):  signs differ  →  subtract magnitudes  5 – 3 = 2  →  sign of larger magnitude (+5) is positive  →  result = +2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nsolas"/>
              <a:buNone/>
            </a:pPr>
            <a:r>
              <a:rPr b="0" i="0" lang="en-US" sz="155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0 0000101  +  1 0000011   →   0 0000010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Advantages, Limitations &amp; Conclusion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48640" y="1234440"/>
            <a:ext cx="5440680" cy="3246120"/>
          </a:xfrm>
          <a:prstGeom prst="roundRect">
            <a:avLst>
              <a:gd fmla="val 2254" name="adj"/>
            </a:avLst>
          </a:prstGeom>
          <a:solidFill>
            <a:srgbClr val="EFF7EF"/>
          </a:solidFill>
          <a:ln cap="flat" cmpd="sng" w="12700">
            <a:solidFill>
              <a:srgbClr val="BFE0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868680" y="19202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1234440" y="19202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Simple, intuitive mapping to sign + value notation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868680" y="24871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 txBox="1"/>
          <p:nvPr/>
        </p:nvSpPr>
        <p:spPr>
          <a:xfrm>
            <a:off x="1234440" y="248716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Symmetric range: equal count of positive &amp; negative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 txBox="1"/>
          <p:nvPr/>
        </p:nvSpPr>
        <p:spPr>
          <a:xfrm>
            <a:off x="868680" y="305409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1234440" y="3054096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Easy manual conversion between decimal and binary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868680" y="362102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1234440" y="362102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Sign bit is trivially isolated by reading the MSB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199632" y="1234440"/>
            <a:ext cx="5440680" cy="3246120"/>
          </a:xfrm>
          <a:prstGeom prst="roundRect">
            <a:avLst>
              <a:gd fmla="val 2254" name="adj"/>
            </a:avLst>
          </a:prstGeom>
          <a:solidFill>
            <a:srgbClr val="FBEDEC"/>
          </a:solidFill>
          <a:ln cap="flat" cmpd="sng" w="12700">
            <a:solidFill>
              <a:srgbClr val="F0C4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6473952" y="141732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6519672" y="19202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6885432" y="19202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Two representations of zero (+0 and –0)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6519672" y="25420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6885432" y="254203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Addition/subtraction needs conditional sign logic, not direct bit addition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6519672" y="316382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6885432" y="3163824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Hardware adders are more complex than 2’s complement designs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6519672" y="378561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6885432" y="378561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Rarely used in real processors — mainly educational value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8640" y="4709160"/>
            <a:ext cx="11091672" cy="1600200"/>
          </a:xfrm>
          <a:prstGeom prst="roundRect">
            <a:avLst>
              <a:gd fmla="val 457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868680" y="4892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868680" y="5193792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3E7F7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E3E7F7"/>
                </a:solidFill>
                <a:latin typeface="Calibri"/>
                <a:ea typeface="Calibri"/>
                <a:cs typeface="Calibri"/>
                <a:sym typeface="Calibri"/>
              </a:rPr>
              <a:t>The sign-magnitude method offers a clear, human-readable foundation for understanding signed binary representation. Simulation confirms its correct range (–127 to +127) and highlights the practical issues — duplicate zero and added arithmetic complexity — that led modern hardware to adopt 2’s complement instead.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57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b0079fd7e_0_5"/>
          <p:cNvSpPr/>
          <p:nvPr/>
        </p:nvSpPr>
        <p:spPr>
          <a:xfrm>
            <a:off x="3545175" y="1500750"/>
            <a:ext cx="4890300" cy="46812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b0079fd7e_0_5"/>
          <p:cNvSpPr txBox="1"/>
          <p:nvPr/>
        </p:nvSpPr>
        <p:spPr>
          <a:xfrm>
            <a:off x="3986550" y="2116400"/>
            <a:ext cx="3996000" cy="3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latin typeface="Pacifico"/>
                <a:ea typeface="Pacifico"/>
                <a:cs typeface="Pacifico"/>
                <a:sym typeface="Pacifico"/>
              </a:rPr>
              <a:t>Thank </a:t>
            </a:r>
            <a:endParaRPr sz="9400"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latin typeface="Pacifico"/>
                <a:ea typeface="Pacifico"/>
                <a:cs typeface="Pacifico"/>
                <a:sym typeface="Pacifico"/>
              </a:rPr>
              <a:t>   you!</a:t>
            </a:r>
            <a:endParaRPr sz="94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2026-08-30T15:33:05Z</dcterms:created>
  <dc:creator>PptxGenJS</dc:creator>
</cp:coreProperties>
</file>