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embeddedFontLst>
    <p:embeddedFont>
      <p:font typeface="Pacifico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dW7eJkzjsoaapUPMsJzRLBeSt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2D801C-E497-4874-B58A-390D855C758A}">
  <a:tblStyle styleId="{382D801C-E497-4874-B58A-390D855C758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acific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409e0017a2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409e0017a2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409e0017a2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b0079fd7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b0079fd7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b0079fd7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b0079fd7e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b0079fd7e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b0079fd7e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86000" y="182810"/>
            <a:ext cx="13258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572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A3572"/>
                </a:solidFill>
                <a:latin typeface="Consolas"/>
                <a:ea typeface="Consolas"/>
                <a:cs typeface="Consolas"/>
                <a:sym typeface="Consolas"/>
              </a:rPr>
              <a:t>01011010 00110101 11001010 01011101 00101101 10101100 01011010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572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A3572"/>
                </a:solidFill>
                <a:latin typeface="Consolas"/>
                <a:ea typeface="Consolas"/>
                <a:cs typeface="Consolas"/>
                <a:sym typeface="Consolas"/>
              </a:rPr>
              <a:t>10100101 01101011 00011010 10110101 01011010 11010101 00101101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242850" y="5248675"/>
            <a:ext cx="13258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572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A3572"/>
                </a:solidFill>
                <a:latin typeface="Consolas"/>
                <a:ea typeface="Consolas"/>
                <a:cs typeface="Consolas"/>
                <a:sym typeface="Consolas"/>
              </a:rPr>
              <a:t>11010010 01011010 00110101 11001010 01011101 00101101 10101100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3572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2A3572"/>
                </a:solidFill>
                <a:latin typeface="Consolas"/>
                <a:ea typeface="Consolas"/>
                <a:cs typeface="Consolas"/>
                <a:sym typeface="Consolas"/>
              </a:rPr>
              <a:t>01011010 10100101 01101011 00011010 10110101 01011010 11010101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26215" y="12744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4526227" y="12744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47434" y="12744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5102446" y="1274460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59015" y="12744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459015" y="12744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80234" y="127429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5980234" y="12743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391828" y="12744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6419116" y="127419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858060" y="127419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6857997" y="12744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296966" y="127409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7324266" y="127414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790510" y="1274048"/>
            <a:ext cx="411600" cy="50280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7790510" y="1274398"/>
            <a:ext cx="41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525" y="1914020"/>
            <a:ext cx="121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DIGITAL LOGIC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823070" y="2354561"/>
            <a:ext cx="107259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Design and Simulation of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8-Bit Signed Binary Number Representation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823070" y="4331993"/>
            <a:ext cx="1072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1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Using the Sign-Magnitude Method</a:t>
            </a:r>
            <a:endParaRPr b="0" i="1" sz="19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BY TEAM MEMBERS: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2620030230_Ramya Sree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2620030178_Manvitha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2620030188_Bhargav Karthik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i="1" lang="en-US" sz="1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2620030194_Shiva Sai</a:t>
            </a:r>
            <a:endParaRPr i="1" sz="19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1"/>
          <p:cNvCxnSpPr/>
          <p:nvPr/>
        </p:nvCxnSpPr>
        <p:spPr>
          <a:xfrm>
            <a:off x="5330952" y="5407053"/>
            <a:ext cx="1527000" cy="0"/>
          </a:xfrm>
          <a:prstGeom prst="straightConnector1">
            <a:avLst/>
          </a:prstGeom>
          <a:noFill/>
          <a:ln cap="flat" cmpd="sng" w="254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"/>
          <p:cNvSpPr txBox="1"/>
          <p:nvPr/>
        </p:nvSpPr>
        <p:spPr>
          <a:xfrm>
            <a:off x="2042595" y="5515195"/>
            <a:ext cx="8897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6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AB6E8"/>
                </a:solidFill>
                <a:latin typeface="Calibri"/>
                <a:ea typeface="Calibri"/>
                <a:cs typeface="Calibri"/>
                <a:sym typeface="Calibri"/>
              </a:rPr>
              <a:t>A study of representing and simulating positive &amp; negative integers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6E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AB6E8"/>
                </a:solidFill>
                <a:latin typeface="Calibri"/>
                <a:ea typeface="Calibri"/>
                <a:cs typeface="Calibri"/>
                <a:sym typeface="Calibri"/>
              </a:rPr>
              <a:t>within an 8-bit binary word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548640" y="219456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&amp; Objective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548640" y="1371600"/>
            <a:ext cx="64922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Digital systems store everything — including negative numbers — as bits. Since plain binary only expresses magnitude, a dedicated scheme is needed to also encode the sign of a value. The Sign-Magnitude method is the most intuitive of these schemes, closely mirroring how humans write signed numbers on paper (a ‘+’ or ‘–’ followed by the value).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1234440" y="3017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Represent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234440" y="3310128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Encode both positive and negative integers within a fixed 8-bit word.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48640" y="395935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 txBox="1"/>
          <p:nvPr/>
        </p:nvSpPr>
        <p:spPr>
          <a:xfrm>
            <a:off x="548640" y="3959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1234440" y="391363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1234440" y="4206240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Define the sign-magnitude bit structure and its encoding/decoding rules.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" y="4855464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548640" y="48554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234440" y="480974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Simulate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1234440" y="5102352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Model the scheme in software/logic to verify range, zero cases and arithmetic.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452360" y="1417320"/>
            <a:ext cx="4206240" cy="4617720"/>
          </a:xfrm>
          <a:prstGeom prst="roundRect">
            <a:avLst>
              <a:gd fmla="val 1739" name="adj"/>
            </a:avLst>
          </a:prstGeom>
          <a:solidFill>
            <a:srgbClr val="1E2761"/>
          </a:solidFill>
          <a:ln>
            <a:noFill/>
          </a:ln>
          <a:effectLst>
            <a:outerShdw blurRad="101600" rotWithShape="0" algn="bl" dir="5400000" dist="38100">
              <a:srgbClr val="1B1B3A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452360" y="16916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AN 8-BIT 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863840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7863840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7863840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ign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8302752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8302752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02752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2^6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741664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8741664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741664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2^5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9180576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9180576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9180576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2^4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9619488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9619488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9619488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2^3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0058400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 txBox="1"/>
          <p:nvPr/>
        </p:nvSpPr>
        <p:spPr>
          <a:xfrm>
            <a:off x="10058400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0058400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2^2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0497312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10497312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10497312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2^1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10936224" y="2286000"/>
            <a:ext cx="384048" cy="502920"/>
          </a:xfrm>
          <a:prstGeom prst="roundRect">
            <a:avLst>
              <a:gd fmla="val 14286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 txBox="1"/>
          <p:nvPr/>
        </p:nvSpPr>
        <p:spPr>
          <a:xfrm>
            <a:off x="10936224" y="2286000"/>
            <a:ext cx="3840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10936224" y="282549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2^0</a:t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7452360" y="32461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MSB = Sign Bit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7534660" y="3520440"/>
            <a:ext cx="1920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B6E8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AAB6E8"/>
                </a:solidFill>
                <a:latin typeface="Calibri"/>
                <a:ea typeface="Calibri"/>
                <a:cs typeface="Calibri"/>
                <a:sym typeface="Calibri"/>
              </a:rPr>
              <a:t>0 = Positive   1 = Negative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9464040" y="3246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4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Remaining 7 Bits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9464040" y="35204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B6E8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AAB6E8"/>
                </a:solidFill>
                <a:latin typeface="Calibri"/>
                <a:ea typeface="Calibri"/>
                <a:cs typeface="Calibri"/>
                <a:sym typeface="Calibri"/>
              </a:rPr>
              <a:t>Represent the Magnitude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2"/>
          <p:cNvCxnSpPr/>
          <p:nvPr/>
        </p:nvCxnSpPr>
        <p:spPr>
          <a:xfrm>
            <a:off x="7818120" y="4160520"/>
            <a:ext cx="3840480" cy="0"/>
          </a:xfrm>
          <a:prstGeom prst="straightConnector1">
            <a:avLst/>
          </a:prstGeom>
          <a:noFill/>
          <a:ln cap="flat" cmpd="sng" w="12700">
            <a:solidFill>
              <a:srgbClr val="3A43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2"/>
          <p:cNvSpPr txBox="1"/>
          <p:nvPr/>
        </p:nvSpPr>
        <p:spPr>
          <a:xfrm>
            <a:off x="7680960" y="434340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“One bit for sign, the rest for value 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closes the gap between binary and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everyday signed notation.”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Ways to Represent Signed Numbers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Three common binary schemes — this project focuses on the first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548640" y="1554480"/>
            <a:ext cx="3520440" cy="4160520"/>
          </a:xfrm>
          <a:prstGeom prst="roundRect">
            <a:avLst>
              <a:gd fmla="val 2338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B3A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77240" y="1353312"/>
            <a:ext cx="1508760" cy="384048"/>
          </a:xfrm>
          <a:prstGeom prst="roundRect">
            <a:avLst>
              <a:gd fmla="val 50000" name="adj"/>
            </a:avLst>
          </a:prstGeom>
          <a:solidFill>
            <a:srgbClr val="FF9F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777240" y="1353312"/>
            <a:ext cx="1508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FOCUS OF THIS DECK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822960" y="18745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Sign-Magnitude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822960" y="242316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DCF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DCF5"/>
                </a:solidFill>
                <a:latin typeface="Calibri"/>
                <a:ea typeface="Calibri"/>
                <a:cs typeface="Calibri"/>
                <a:sym typeface="Calibri"/>
              </a:rPr>
              <a:t>MSB stores the sign (0/1); remaining bits store the magnitude, unchanged from unsigned binary.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22960" y="4663440"/>
            <a:ext cx="2971800" cy="685800"/>
          </a:xfrm>
          <a:prstGeom prst="roundRect">
            <a:avLst>
              <a:gd fmla="val 8000" name="adj"/>
            </a:avLst>
          </a:prstGeom>
          <a:solidFill>
            <a:srgbClr val="141B49"/>
          </a:solidFill>
          <a:ln cap="flat" cmpd="sng" w="12700">
            <a:solidFill>
              <a:srgbClr val="141B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822960" y="46634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9F1C"/>
                </a:solidFill>
                <a:latin typeface="Consolas"/>
                <a:ea typeface="Consolas"/>
                <a:cs typeface="Consolas"/>
                <a:sym typeface="Consolas"/>
              </a:rPr>
              <a:t>-5  →  1 0000101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361688" y="1554480"/>
            <a:ext cx="3520440" cy="4160520"/>
          </a:xfrm>
          <a:prstGeom prst="roundRect">
            <a:avLst>
              <a:gd fmla="val 2338" name="adj"/>
            </a:avLst>
          </a:prstGeom>
          <a:solidFill>
            <a:srgbClr val="F5F7FC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4636008" y="18745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1’s Complement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4636008" y="242316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Negative numbers formed by inverting every bit of the positive value.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636008" y="4663440"/>
            <a:ext cx="297180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4636008" y="46634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-5  →  1 1111010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174736" y="1554480"/>
            <a:ext cx="3520440" cy="4160520"/>
          </a:xfrm>
          <a:prstGeom prst="roundRect">
            <a:avLst>
              <a:gd fmla="val 2338" name="adj"/>
            </a:avLst>
          </a:prstGeom>
          <a:solidFill>
            <a:srgbClr val="F5F7FC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8449056" y="18745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2’s Complement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8449056" y="242316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Negative numbers formed by inverting all bits, then adding 1. Used in most real hardware.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8449056" y="4663440"/>
            <a:ext cx="297180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8449056" y="466344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-5  →  1 1111011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Structure of the Sign-Magnitude Format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48598" y="1764840"/>
            <a:ext cx="960000" cy="960000"/>
          </a:xfrm>
          <a:prstGeom prst="roundRect">
            <a:avLst>
              <a:gd fmla="val 5714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548610" y="1764840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537673" y="2724861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SIGN</a:t>
            </a:r>
            <a:endParaRPr b="1" i="0" sz="1250" u="none" cap="none" strike="noStrike">
              <a:solidFill>
                <a:srgbClr val="5B67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628707" y="173740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1628707" y="173740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650444" y="268832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2^6</a:t>
            </a:r>
            <a:endParaRPr b="1" i="0" sz="1250" u="none" cap="none" strike="noStrike">
              <a:solidFill>
                <a:srgbClr val="5B67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752341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2708803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2763228" y="268832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2^5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876012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3876012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3876012" y="2663149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2^4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999646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4999646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4999646" y="268137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2^3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123305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6123305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6123305" y="268137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2^2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246939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7246939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7246939" y="268137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2^1</a:t>
            </a:r>
            <a:endParaRPr b="1" i="0" sz="1250" u="none" cap="none" strike="noStrike">
              <a:solidFill>
                <a:srgbClr val="5B67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370598" y="1737353"/>
            <a:ext cx="960000" cy="960000"/>
          </a:xfrm>
          <a:prstGeom prst="roundRect">
            <a:avLst>
              <a:gd fmla="val 5714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8370598" y="1737353"/>
            <a:ext cx="960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8370598" y="2688324"/>
            <a:ext cx="960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850"/>
              <a:buFont typeface="Calibri"/>
              <a:buNone/>
            </a:pPr>
            <a:r>
              <a:rPr b="1" lang="en-US" sz="1250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2^0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412898" y="3097553"/>
            <a:ext cx="960000" cy="777300"/>
          </a:xfrm>
          <a:prstGeom prst="roundRect">
            <a:avLst>
              <a:gd fmla="val 7059" name="adj"/>
            </a:avLst>
          </a:prstGeom>
          <a:solidFill>
            <a:srgbClr val="FF9F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2412898" y="3109148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49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Bit 7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2412898" y="3417605"/>
            <a:ext cx="96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9"/>
              </a:buClr>
              <a:buSzPts val="1050"/>
              <a:buFont typeface="Calibri"/>
              <a:buNone/>
            </a:pPr>
            <a:r>
              <a:rPr b="1" lang="en-US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-US" u="none" cap="none" strike="noStrike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Sign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9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141B49"/>
                </a:solidFill>
                <a:latin typeface="Calibri"/>
                <a:ea typeface="Calibri"/>
                <a:cs typeface="Calibri"/>
                <a:sym typeface="Calibri"/>
              </a:rPr>
              <a:t>Bit)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3544952" y="3103278"/>
            <a:ext cx="6720900" cy="777300"/>
          </a:xfrm>
          <a:prstGeom prst="roundRect">
            <a:avLst>
              <a:gd fmla="val 705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3382589" y="3109161"/>
            <a:ext cx="672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Bits 6 – 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3447514" y="3369780"/>
            <a:ext cx="672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7-bit Magnitude Field  —  same value as ordinary unsigned binary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412910" y="4082808"/>
            <a:ext cx="3886200" cy="169170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2588705" y="4357053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2588705" y="435705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3288590" y="4402803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Sign Bit =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2641505" y="4841743"/>
            <a:ext cx="342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F5C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3B3F5C"/>
                </a:solidFill>
                <a:latin typeface="Calibri"/>
                <a:ea typeface="Calibri"/>
                <a:cs typeface="Calibri"/>
                <a:sym typeface="Calibri"/>
              </a:rPr>
              <a:t>The value is positive.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F5C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3B3F5C"/>
                </a:solidFill>
                <a:latin typeface="Calibri"/>
                <a:ea typeface="Calibri"/>
                <a:cs typeface="Calibri"/>
                <a:sym typeface="Calibri"/>
              </a:rPr>
              <a:t>Example: 0 0000101  =  +5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907505" y="4094258"/>
            <a:ext cx="3886200" cy="169170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7083300" y="4239403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7083300" y="423941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7589460" y="430714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Sign Bit =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7136100" y="4841755"/>
            <a:ext cx="3429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F5C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3B3F5C"/>
                </a:solidFill>
                <a:latin typeface="Calibri"/>
                <a:ea typeface="Calibri"/>
                <a:cs typeface="Calibri"/>
                <a:sym typeface="Calibri"/>
              </a:rPr>
              <a:t>The value is negative.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3F5C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3B3F5C"/>
                </a:solidFill>
                <a:latin typeface="Calibri"/>
                <a:ea typeface="Calibri"/>
                <a:cs typeface="Calibri"/>
                <a:sym typeface="Calibri"/>
              </a:rPr>
              <a:t>Example: 1 0000101  =  –5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1737360" y="598932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100"/>
              <a:buFont typeface="Calibri"/>
              <a:buNone/>
            </a:pPr>
            <a:r>
              <a:rPr b="1" i="1" lang="en-US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General form:  N = (–1)</a:t>
            </a:r>
            <a:r>
              <a:rPr b="1" i="1" lang="en-US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^SIGN</a:t>
            </a:r>
            <a:r>
              <a:rPr b="1" i="1" lang="en-US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 × |Magnitude|,   where the sign bit selects the exponent of –1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409e0017a2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50" y="403750"/>
            <a:ext cx="5793600" cy="53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409e0017a2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8900" y="403750"/>
            <a:ext cx="5626825" cy="53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Encoding Examples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Decimal values converted into 8-bit sign-magnitude form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5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{382D801C-E497-4874-B58A-390D855C758A}</a:tableStyleId>
              </a:tblPr>
              <a:tblGrid>
                <a:gridCol w="1554475"/>
                <a:gridCol w="1188725"/>
                <a:gridCol w="2468875"/>
                <a:gridCol w="2862075"/>
                <a:gridCol w="30175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Decimal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Magnitude (7 bits)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8-bit Sign-Magnitude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7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+5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7A3D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F7A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0000101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0 0000101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positive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–5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0000101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1 0000101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negative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+127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7A3D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F7A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1111111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0 1111111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positive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–127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1111111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1 1111111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negative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7A3D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F7A3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0 0000000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(positive)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276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–0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F4A"/>
                        </a:buClr>
                        <a:buSzPts val="13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2B2F4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0000000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B49"/>
                        </a:buClr>
                        <a:buSzPts val="13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41B4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1 0000000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785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750" u="none" cap="none" strike="noStrike">
                          <a:solidFill>
                            <a:srgbClr val="5B678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(negative)</a:t>
                      </a:r>
                      <a:endParaRPr sz="17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6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5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fmla="val 9677" name="adj"/>
            </a:avLst>
          </a:prstGeom>
          <a:solidFill>
            <a:srgbClr val="FFF4E4"/>
          </a:solidFill>
          <a:ln cap="flat" cmpd="sng" w="12700">
            <a:solidFill>
              <a:srgbClr val="FF9F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777240" y="5742432"/>
            <a:ext cx="10607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A00"/>
              </a:buClr>
              <a:buSzPts val="1150"/>
              <a:buFont typeface="Calibri"/>
              <a:buNone/>
            </a:pPr>
            <a:r>
              <a:rPr b="0" i="0" lang="en-US" sz="1750" u="none" cap="none" strike="noStrike">
                <a:solidFill>
                  <a:srgbClr val="7A4A00"/>
                </a:solidFill>
                <a:latin typeface="Calibri"/>
                <a:ea typeface="Calibri"/>
                <a:cs typeface="Calibri"/>
                <a:sym typeface="Calibri"/>
              </a:rPr>
              <a:t>Notice: +0 and –0 have two different bit patterns for the same value — a key quirk of this method (see next slide).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b0079fd7e_0_0"/>
          <p:cNvSpPr txBox="1"/>
          <p:nvPr/>
        </p:nvSpPr>
        <p:spPr>
          <a:xfrm>
            <a:off x="4741175" y="1525038"/>
            <a:ext cx="8298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+5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94" name="Google Shape;194;g3fb0079fd7e_0_0"/>
          <p:cNvSpPr txBox="1"/>
          <p:nvPr/>
        </p:nvSpPr>
        <p:spPr>
          <a:xfrm>
            <a:off x="6634125" y="1564188"/>
            <a:ext cx="7359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-5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95" name="Google Shape;195;g3fb0079fd7e_0_0"/>
          <p:cNvSpPr txBox="1"/>
          <p:nvPr/>
        </p:nvSpPr>
        <p:spPr>
          <a:xfrm>
            <a:off x="4723200" y="4210200"/>
            <a:ext cx="10020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+127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96" name="Google Shape;196;g3fb0079fd7e_0_0"/>
          <p:cNvSpPr txBox="1"/>
          <p:nvPr/>
        </p:nvSpPr>
        <p:spPr>
          <a:xfrm>
            <a:off x="6422775" y="4210200"/>
            <a:ext cx="1158600" cy="1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-127</a:t>
            </a:r>
            <a:endParaRPr b="1" sz="2300">
              <a:solidFill>
                <a:schemeClr val="lt1"/>
              </a:solidFill>
            </a:endParaRPr>
          </a:p>
        </p:txBody>
      </p:sp>
      <p:sp>
        <p:nvSpPr>
          <p:cNvPr id="197" name="Google Shape;197;g3fb0079fd7e_0_0"/>
          <p:cNvSpPr/>
          <p:nvPr/>
        </p:nvSpPr>
        <p:spPr>
          <a:xfrm>
            <a:off x="4097550" y="1615050"/>
            <a:ext cx="720300" cy="4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fb0079fd7e_0_0"/>
          <p:cNvSpPr/>
          <p:nvPr/>
        </p:nvSpPr>
        <p:spPr>
          <a:xfrm>
            <a:off x="7249350" y="1615050"/>
            <a:ext cx="720300" cy="446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b0079fd7e_0_0"/>
          <p:cNvSpPr/>
          <p:nvPr/>
        </p:nvSpPr>
        <p:spPr>
          <a:xfrm>
            <a:off x="7249350" y="4265100"/>
            <a:ext cx="720300" cy="446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b0079fd7e_0_0"/>
          <p:cNvSpPr/>
          <p:nvPr/>
        </p:nvSpPr>
        <p:spPr>
          <a:xfrm>
            <a:off x="4025625" y="4265100"/>
            <a:ext cx="720300" cy="44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g3fb0079fd7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50" y="139850"/>
            <a:ext cx="3720825" cy="31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fb0079fd7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038" y="3334149"/>
            <a:ext cx="3720825" cy="3263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fb0079fd7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9650" y="3334150"/>
            <a:ext cx="3832705" cy="333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fb0079fd7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9650" y="179475"/>
            <a:ext cx="3832701" cy="302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Range and Special Cases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8 bits can and cannot cleanly express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8640" y="1600200"/>
            <a:ext cx="3429000" cy="1737360"/>
          </a:xfrm>
          <a:prstGeom prst="roundRect">
            <a:avLst>
              <a:gd fmla="val 4211" name="adj"/>
            </a:avLst>
          </a:prstGeom>
          <a:solidFill>
            <a:srgbClr val="263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548640" y="1764792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9F1C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731520" y="26060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magnitude bits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available for value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233672" y="1600200"/>
            <a:ext cx="3429000" cy="1737360"/>
          </a:xfrm>
          <a:prstGeom prst="roundRect">
            <a:avLst>
              <a:gd fmla="val 4211" name="adj"/>
            </a:avLst>
          </a:prstGeom>
          <a:solidFill>
            <a:srgbClr val="263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4233672" y="1764792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9F1C"/>
                </a:solidFill>
                <a:latin typeface="Cambria"/>
                <a:ea typeface="Cambria"/>
                <a:cs typeface="Cambria"/>
                <a:sym typeface="Cambria"/>
              </a:rPr>
              <a:t>–127 to +127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4416552" y="26060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representable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decimal range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7918704" y="1600200"/>
            <a:ext cx="3429000" cy="1737360"/>
          </a:xfrm>
          <a:prstGeom prst="roundRect">
            <a:avLst>
              <a:gd fmla="val 4211" name="adj"/>
            </a:avLst>
          </a:prstGeom>
          <a:solidFill>
            <a:srgbClr val="263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7918704" y="1764792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9F1C"/>
                </a:solidFill>
                <a:latin typeface="Cambria"/>
                <a:ea typeface="Cambria"/>
                <a:cs typeface="Cambria"/>
                <a:sym typeface="Cambria"/>
              </a:rPr>
              <a:t>256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8101584" y="26060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total bit patterns,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7F5"/>
              </a:buClr>
              <a:buSzPts val="1150"/>
              <a:buFont typeface="Calibri"/>
              <a:buNone/>
            </a:pPr>
            <a:r>
              <a:rPr b="0" i="0" lang="en-US" sz="1450" u="none" cap="none" strike="noStrike">
                <a:solidFill>
                  <a:srgbClr val="CFD7F5"/>
                </a:solidFill>
                <a:latin typeface="Calibri"/>
                <a:ea typeface="Calibri"/>
                <a:cs typeface="Calibri"/>
                <a:sym typeface="Calibri"/>
              </a:rPr>
              <a:t>only 255 distinct values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48640" y="3611880"/>
            <a:ext cx="5440680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Duplicate-Zero Problem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22960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822960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1229868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1229868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1636776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1636776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2043684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2043684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450592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2450592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857500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2857500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264408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3264408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3671316" y="425196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3671316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4315968" y="42519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F7A3D"/>
                </a:solidFill>
                <a:latin typeface="Consolas"/>
                <a:ea typeface="Consolas"/>
                <a:cs typeface="Consolas"/>
                <a:sym typeface="Consolas"/>
              </a:rPr>
              <a:t>= +0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822960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FF9F1C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822960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229868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1229868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636776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1636776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2043684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2043684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2450592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2450592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2857500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2857500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3264408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3264408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3671316" y="4846320"/>
            <a:ext cx="365760" cy="45720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1B1B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3671316" y="4846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4315968" y="484632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= –0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822960" y="5440680"/>
            <a:ext cx="4892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Two encodings map to the same value, wasting a bit pattern and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complicating equality checks in simulation.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263640" y="3611880"/>
            <a:ext cx="5394960" cy="237744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6537960" y="3794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Symmetric Range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6"/>
          <p:cNvCxnSpPr/>
          <p:nvPr/>
        </p:nvCxnSpPr>
        <p:spPr>
          <a:xfrm>
            <a:off x="6720840" y="5074920"/>
            <a:ext cx="4663440" cy="0"/>
          </a:xfrm>
          <a:prstGeom prst="straightConnector1">
            <a:avLst/>
          </a:prstGeom>
          <a:noFill/>
          <a:ln cap="flat" cmpd="sng" w="25400">
            <a:solidFill>
              <a:srgbClr val="C7C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6"/>
          <p:cNvSpPr/>
          <p:nvPr/>
        </p:nvSpPr>
        <p:spPr>
          <a:xfrm>
            <a:off x="6656832" y="5010912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8988552" y="5010912"/>
            <a:ext cx="128016" cy="12801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11256264" y="5010912"/>
            <a:ext cx="128016" cy="128016"/>
          </a:xfrm>
          <a:prstGeom prst="ellipse">
            <a:avLst/>
          </a:prstGeom>
          <a:solidFill>
            <a:srgbClr val="1F7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 txBox="1"/>
          <p:nvPr/>
        </p:nvSpPr>
        <p:spPr>
          <a:xfrm>
            <a:off x="6400800" y="519379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–127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8595360" y="519379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0 / –0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10881360" y="519379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1F7A3D"/>
                </a:solidFill>
                <a:latin typeface="Consolas"/>
                <a:ea typeface="Consolas"/>
                <a:cs typeface="Consolas"/>
                <a:sym typeface="Consolas"/>
              </a:rPr>
              <a:t>+127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6537960" y="54864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Unlike 2’s complement (–128 to +127), sign-magnitude 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perfectly symmetric — at the cost of the duplicate zero above.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7C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7C9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C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548640" y="219456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Simulating Sign-Magnitude Arithmetic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250"/>
              <a:buFont typeface="Calibri"/>
              <a:buNone/>
            </a:pPr>
            <a:r>
              <a:rPr b="0" i="0" lang="en-US" sz="175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Unlike 2’s complement, sign-magnitude cannot simply add bit patterns — the simulation logic must branch on the operand signs before performing magnitude arithmetic.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48640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1348740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1348740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658368" y="2880360"/>
            <a:ext cx="1892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Read Signs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685800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Extract the MSB of both operands to identify each </a:t>
            </a:r>
            <a:r>
              <a:rPr lang="en-US" sz="1370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number’s</a:t>
            </a: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 sign.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2660904" y="3136392"/>
            <a:ext cx="109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770632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3570732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3570732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2880360" y="2880360"/>
            <a:ext cx="1892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Compare Signs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2907792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If signs match, add the magnitudes and keep the common sign.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4882896" y="3136392"/>
            <a:ext cx="109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992624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5792724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5792724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5102365" y="2875798"/>
            <a:ext cx="189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Subtract if Differ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5129784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If signs differ, subtract the smaller magnitude from the larger.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7104888" y="3136392"/>
            <a:ext cx="109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7214616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8014716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8014716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7324344" y="2880360"/>
            <a:ext cx="1892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Assign Result Sign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7351776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Result takes the sign of the operand with the larger magnitude.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9326880" y="3136392"/>
            <a:ext cx="1097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9436608" y="1965960"/>
            <a:ext cx="2112264" cy="2743200"/>
          </a:xfrm>
          <a:prstGeom prst="roundRect">
            <a:avLst>
              <a:gd fmla="val 3463" name="adj"/>
            </a:avLst>
          </a:prstGeom>
          <a:solidFill>
            <a:srgbClr val="FFFFFF"/>
          </a:solidFill>
          <a:ln cap="flat" cmpd="sng" w="12700">
            <a:solidFill>
              <a:srgbClr val="E2E6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B3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10236708" y="21945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10236708" y="21945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9546336" y="2880360"/>
            <a:ext cx="1892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Check Overflow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 txBox="1"/>
          <p:nvPr/>
        </p:nvSpPr>
        <p:spPr>
          <a:xfrm>
            <a:off x="9573768" y="3337560"/>
            <a:ext cx="18379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76B"/>
              </a:buClr>
              <a:buSzPts val="970"/>
              <a:buFont typeface="Calibri"/>
              <a:buNone/>
            </a:pPr>
            <a:r>
              <a:rPr b="0" i="0" lang="en-US" sz="1370" u="none" cap="none" strike="noStrike">
                <a:solidFill>
                  <a:srgbClr val="43476B"/>
                </a:solidFill>
                <a:latin typeface="Calibri"/>
                <a:ea typeface="Calibri"/>
                <a:cs typeface="Calibri"/>
                <a:sym typeface="Calibri"/>
              </a:rPr>
              <a:t>Flag overflow if the magnitude result exceeds 7-bit capacity (127).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548640" y="4937760"/>
            <a:ext cx="11091672" cy="1417320"/>
          </a:xfrm>
          <a:prstGeom prst="roundRect">
            <a:avLst>
              <a:gd fmla="val 516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 txBox="1"/>
          <p:nvPr/>
        </p:nvSpPr>
        <p:spPr>
          <a:xfrm>
            <a:off x="822960" y="50749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WORKED EXAMPLE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(+5) + (–3):  signs differ  →  subtract magnitudes  5 – 3 = 2  →  sign of larger magnitude (+5) is positive  →  result = +2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nsolas"/>
              <a:buNone/>
            </a:pPr>
            <a:r>
              <a:rPr b="0" i="0" lang="en-US" sz="155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0 0000101  +  1 0000011   →   0 0000010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Advantages, Limitations &amp; Conclusion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548640" y="1234440"/>
            <a:ext cx="5440680" cy="3246120"/>
          </a:xfrm>
          <a:prstGeom prst="roundRect">
            <a:avLst>
              <a:gd fmla="val 2254" name="adj"/>
            </a:avLst>
          </a:prstGeom>
          <a:solidFill>
            <a:srgbClr val="EFF7EF"/>
          </a:solidFill>
          <a:ln cap="flat" cmpd="sng" w="12700">
            <a:solidFill>
              <a:srgbClr val="BFE0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822960" y="14173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Advantages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868680" y="19202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1234440" y="1920240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Simple, intuitive mapping to sign + value notation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868680" y="2487168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1234440" y="2487168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Symmetric range: equal count of positive &amp; negative values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868680" y="3054096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1234440" y="3054096"/>
            <a:ext cx="452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Easy manual conversion between decimal and binary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868680" y="3621024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7A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7A3D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 txBox="1"/>
          <p:nvPr/>
        </p:nvSpPr>
        <p:spPr>
          <a:xfrm>
            <a:off x="1234440" y="3621024"/>
            <a:ext cx="4526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Sign bit is trivially isolated by reading the MSB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6199632" y="1234440"/>
            <a:ext cx="5440680" cy="3246120"/>
          </a:xfrm>
          <a:prstGeom prst="roundRect">
            <a:avLst>
              <a:gd fmla="val 2254" name="adj"/>
            </a:avLst>
          </a:prstGeom>
          <a:solidFill>
            <a:srgbClr val="FBEDEC"/>
          </a:solidFill>
          <a:ln cap="flat" cmpd="sng" w="12700">
            <a:solidFill>
              <a:srgbClr val="F0C4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 txBox="1"/>
          <p:nvPr/>
        </p:nvSpPr>
        <p:spPr>
          <a:xfrm>
            <a:off x="6473952" y="1417320"/>
            <a:ext cx="493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6519672" y="19202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 txBox="1"/>
          <p:nvPr/>
        </p:nvSpPr>
        <p:spPr>
          <a:xfrm>
            <a:off x="6885432" y="1920240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Two representations of zero (+0 and –0)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6519672" y="2542032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6885432" y="2542032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Addition/subtraction needs conditional sign logic, not direct bit addition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6519672" y="3163824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6885432" y="3163824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Hardware adders are more complex than 2’s complement designs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6519672" y="3785616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6885432" y="3785616"/>
            <a:ext cx="4617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B2F4A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rgbClr val="2B2F4A"/>
                </a:solidFill>
                <a:latin typeface="Calibri"/>
                <a:ea typeface="Calibri"/>
                <a:cs typeface="Calibri"/>
                <a:sym typeface="Calibri"/>
              </a:rPr>
              <a:t>Rarely used in real processors — mainly educational value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548640" y="4709160"/>
            <a:ext cx="11091672" cy="1600200"/>
          </a:xfrm>
          <a:prstGeom prst="roundRect">
            <a:avLst>
              <a:gd fmla="val 457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 txBox="1"/>
          <p:nvPr/>
        </p:nvSpPr>
        <p:spPr>
          <a:xfrm>
            <a:off x="868680" y="4892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F1C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FF9F1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868680" y="5193792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3E7F7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E3E7F7"/>
                </a:solidFill>
                <a:latin typeface="Calibri"/>
                <a:ea typeface="Calibri"/>
                <a:cs typeface="Calibri"/>
                <a:sym typeface="Calibri"/>
              </a:rPr>
              <a:t>The sign-magnitude method offers a clear, human-readable foundation for understanding signed binary representation. Simulation confirms its correct range (–127 to +127) and highlights the practical issues — duplicate zero and added arithmetic complexity — that led modern hardware to adopt 2’s complement instead.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78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78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0"/>
                </a:solidFill>
                <a:latin typeface="Calibri"/>
                <a:ea typeface="Calibri"/>
                <a:cs typeface="Calibri"/>
                <a:sym typeface="Calibri"/>
              </a:rPr>
              <a:t>8-BIT SIGN-MAGNITUDE REPRESENTATION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57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b0079fd7e_0_5"/>
          <p:cNvSpPr/>
          <p:nvPr/>
        </p:nvSpPr>
        <p:spPr>
          <a:xfrm>
            <a:off x="3545175" y="1500750"/>
            <a:ext cx="4890300" cy="46812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b0079fd7e_0_5"/>
          <p:cNvSpPr txBox="1"/>
          <p:nvPr/>
        </p:nvSpPr>
        <p:spPr>
          <a:xfrm>
            <a:off x="3986550" y="2116400"/>
            <a:ext cx="3996000" cy="3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0">
                <a:latin typeface="Pacifico"/>
                <a:ea typeface="Pacifico"/>
                <a:cs typeface="Pacifico"/>
                <a:sym typeface="Pacifico"/>
              </a:rPr>
              <a:t>Thank </a:t>
            </a:r>
            <a:endParaRPr sz="9400"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00">
                <a:latin typeface="Pacifico"/>
                <a:ea typeface="Pacifico"/>
                <a:cs typeface="Pacifico"/>
                <a:sym typeface="Pacifico"/>
              </a:rPr>
              <a:t>   you!</a:t>
            </a:r>
            <a:endParaRPr sz="94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2026-08-30T15:33:05Z</dcterms:created>
  <dc:creator>PptxGenJS</dc:creator>
</cp:coreProperties>
</file>