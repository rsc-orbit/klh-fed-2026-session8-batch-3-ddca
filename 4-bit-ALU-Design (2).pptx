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450CE75-DBD5-F64C-F986-B969D1E14FBB}">
          <p14:sldIdLst>
            <p14:sldId id="256"/>
            <p14:sldId id="257"/>
          </p14:sldIdLst>
        </p14:section>
        <p14:section name="Design" id="{1D5FA3F7-7D78-3427-EAD7-F7E9308C5FCA}">
          <p14:sldIdLst>
            <p14:sldId id="258"/>
            <p14:sldId id="259"/>
          </p14:sldIdLst>
        </p14:section>
        <p14:section name="Working and Applications" id="{CB4D6D0F-CF14-3FF1-D4B8-81BECFB94DF5}">
          <p14:sldIdLst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7698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topic: we design a 4-bit Arithmetic Logic Unit that performs three operations — bitwise AND, bitwise OR and Set-Less-Than — with a multiplexer choosing which result appears at the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and OR are pure logic, done bit by bit. SLT is a comparison: it needs a subtraction A − B internally, then looks at the sign. All three are computed at the same time; the multiplexer just chooses which one to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slice: both inputs go to all three units at once. The mux inputs are numbered 0 to 3 — AND on 0, OR on 1, the adder sum on 2 (used internally), and the Less signal on 3. The 2-bit Operation select decides which one leaves as the result. The adder also produces CarryOut, which ripples to the next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ripple carry in blue and the feedback in orange. Only the most significant slice knows the sign of A − B. That Set signal goes back to bit 0's Less input; the other three Less inputs are tied to 0. So when SLT is selected the output is 000 followed by the sign bit — 0001 if A is less than B. For full correctness with overflow, Set is sign XOR overflow.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table row by row. Then trace the example: AND keeps only the shared 1 in bit 2, OR combines them. For SLT, B is inverted to 1001 and 1 is added, giving 1111, which is −1 in two's complement. The sign bit is 1, so Set = 1 and the ALU outputs 0001, meaning A is less than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technical part with real uses. The key message: the mux-based slice design is modular, so a 4-bit ALU scales to 32 bits just by adding slices, and SLT is exactly how processors implement less-than comparisons.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1737360"/>
            <a:ext cx="10515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224028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13816" y="3520440"/>
            <a:ext cx="9601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813816" y="4937760"/>
            <a:ext cx="9601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548640"/>
            <a:ext cx="10515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kern="0" spc="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868680"/>
            <a:ext cx="10515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1737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4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COMPUTER ORGANIZATION · DIGITAL LOGIC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22402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</a:rPr>
              <a:t>Designing a 4-bit ALU</a:t>
            </a:r>
            <a:endParaRPr lang="en-US" sz="5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13816" y="35204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accent4"/>
                </a:solidFill>
              </a:rPr>
              <a:t>AND, OR and Set-Less-Than (SLT), selected by a multiplexer — design, working and applications</a:t>
            </a:r>
            <a:endParaRPr lang="en-US" sz="22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813816" y="4937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</a:rPr>
              <a:t>P</a:t>
            </a:r>
            <a:r>
              <a:rPr lang="en-US" dirty="0"/>
              <a:t>resented by:</a:t>
            </a:r>
          </a:p>
          <a:p>
            <a:pPr marL="0" indent="0">
              <a:buNone/>
            </a:pPr>
            <a:r>
              <a:rPr lang="en-US" sz="1600" dirty="0"/>
              <a:t>M</a:t>
            </a:r>
            <a:r>
              <a:rPr lang="en-US" dirty="0"/>
              <a:t>. Shiva Sai- 2620030194</a:t>
            </a:r>
          </a:p>
          <a:p>
            <a:pPr marL="0" indent="0">
              <a:buNone/>
            </a:pPr>
            <a:r>
              <a:rPr lang="en-US" dirty="0"/>
              <a:t>C. Bhargav Karthik-2620030188</a:t>
            </a:r>
          </a:p>
          <a:p>
            <a:pPr marL="0" indent="0">
              <a:buNone/>
            </a:pPr>
            <a:r>
              <a:rPr lang="en-US" dirty="0"/>
              <a:t>D. Manvitha-2620030178</a:t>
            </a:r>
          </a:p>
          <a:p>
            <a:pPr marL="0" indent="0">
              <a:buNone/>
            </a:pPr>
            <a:r>
              <a:rPr lang="en-US" dirty="0"/>
              <a:t>C. Ramya Sree-2620030230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Cover bits"/>
          <p:cNvSpPr txBox="1"/>
          <p:nvPr/>
        </p:nvSpPr>
        <p:spPr>
          <a:xfrm>
            <a:off x="8778240" y="5486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500" dirty="0">
                <a:solidFill>
                  <a:srgbClr val="5E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0101</a:t>
            </a:r>
            <a:endParaRPr lang="en-US" sz="1500" dirty="0"/>
          </a:p>
          <a:p>
            <a:pPr marL="0" indent="0" algn="r">
              <a:lnSpc>
                <a:spcPct val="130000"/>
              </a:lnSpc>
              <a:buNone/>
            </a:pPr>
            <a:r>
              <a:rPr lang="en-US" sz="1500" dirty="0">
                <a:solidFill>
                  <a:srgbClr val="5E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0110</a:t>
            </a:r>
            <a:endParaRPr lang="en-US" sz="1500" dirty="0"/>
          </a:p>
          <a:p>
            <a:pPr marL="0" indent="0" algn="r">
              <a:lnSpc>
                <a:spcPct val="130000"/>
              </a:lnSpc>
              <a:buNone/>
            </a:pPr>
            <a:r>
              <a:rPr lang="en-US" sz="1500" dirty="0">
                <a:solidFill>
                  <a:srgbClr val="5E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 = 11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548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kern="0" spc="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INTRODUCTION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868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the ALU does</a:t>
            </a:r>
            <a:endParaRPr lang="en-US" sz="3600" dirty="0"/>
          </a:p>
        </p:txBody>
      </p:sp>
      <p:sp>
        <p:nvSpPr>
          <p:cNvPr id="4" name="Intro text"/>
          <p:cNvSpPr txBox="1"/>
          <p:nvPr/>
        </p:nvSpPr>
        <p:spPr>
          <a:xfrm>
            <a:off x="813816" y="17373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The Arithmetic Logic Unit is the combinational heart of a CPU: it takes two 4-bit operands, A and B, computes several results in parallel, and a </a:t>
            </a:r>
            <a:r>
              <a:rPr lang="en-US" sz="1700" b="1" dirty="0">
                <a:solidFill>
                  <a:schemeClr val="tx1"/>
                </a:solidFill>
              </a:rPr>
              <a:t>multiplexer</a:t>
            </a:r>
            <a:r>
              <a:rPr lang="en-US" sz="1700" dirty="0">
                <a:solidFill>
                  <a:schemeClr val="tx2"/>
                </a:solidFill>
              </a:rPr>
              <a:t> picks the one requested by the operation-select lines.</a:t>
            </a:r>
            <a:endParaRPr lang="en-US" sz="1700" dirty="0"/>
          </a:p>
        </p:txBody>
      </p:sp>
      <p:sp>
        <p:nvSpPr>
          <p:cNvPr id="5" name="AND card"/>
          <p:cNvSpPr/>
          <p:nvPr/>
        </p:nvSpPr>
        <p:spPr>
          <a:xfrm>
            <a:off x="813816" y="2880360"/>
            <a:ext cx="3383280" cy="3154680"/>
          </a:xfrm>
          <a:prstGeom prst="roundRect">
            <a:avLst>
              <a:gd name="adj" fmla="val 231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AND badge"/>
          <p:cNvSpPr/>
          <p:nvPr/>
        </p:nvSpPr>
        <p:spPr>
          <a:xfrm>
            <a:off x="1133856" y="315468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AND symbol"/>
          <p:cNvSpPr txBox="1"/>
          <p:nvPr/>
        </p:nvSpPr>
        <p:spPr>
          <a:xfrm>
            <a:off x="1133856" y="3154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endParaRPr lang="en-US" sz="2400" dirty="0"/>
          </a:p>
        </p:txBody>
      </p:sp>
      <p:sp>
        <p:nvSpPr>
          <p:cNvPr id="8" name="AND heading"/>
          <p:cNvSpPr txBox="1"/>
          <p:nvPr/>
        </p:nvSpPr>
        <p:spPr>
          <a:xfrm>
            <a:off x="1133856" y="4023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AND</a:t>
            </a:r>
            <a:endParaRPr lang="en-US" sz="2400" dirty="0"/>
          </a:p>
        </p:txBody>
      </p:sp>
      <p:sp>
        <p:nvSpPr>
          <p:cNvPr id="9" name="AND desc"/>
          <p:cNvSpPr txBox="1"/>
          <p:nvPr/>
        </p:nvSpPr>
        <p:spPr>
          <a:xfrm>
            <a:off x="1133856" y="45262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Bitwise: each result bit is 1 only when both input bits are 1.</a:t>
            </a:r>
            <a:endParaRPr lang="en-US" sz="1500" dirty="0"/>
          </a:p>
        </p:txBody>
      </p:sp>
      <p:sp>
        <p:nvSpPr>
          <p:cNvPr id="10" name="AND example"/>
          <p:cNvSpPr txBox="1"/>
          <p:nvPr/>
        </p:nvSpPr>
        <p:spPr>
          <a:xfrm>
            <a:off x="1133856" y="5440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0101 AND 0110 = 0100</a:t>
            </a:r>
            <a:endParaRPr lang="en-US" sz="1400" dirty="0"/>
          </a:p>
        </p:txBody>
      </p:sp>
      <p:sp>
        <p:nvSpPr>
          <p:cNvPr id="11" name="OR card"/>
          <p:cNvSpPr/>
          <p:nvPr/>
        </p:nvSpPr>
        <p:spPr>
          <a:xfrm>
            <a:off x="4379976" y="2880360"/>
            <a:ext cx="3383280" cy="3154680"/>
          </a:xfrm>
          <a:prstGeom prst="roundRect">
            <a:avLst>
              <a:gd name="adj" fmla="val 231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OR badge"/>
          <p:cNvSpPr/>
          <p:nvPr/>
        </p:nvSpPr>
        <p:spPr>
          <a:xfrm>
            <a:off x="4700016" y="315468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OR symbol"/>
          <p:cNvSpPr txBox="1"/>
          <p:nvPr/>
        </p:nvSpPr>
        <p:spPr>
          <a:xfrm>
            <a:off x="4700016" y="3154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2400" dirty="0"/>
          </a:p>
        </p:txBody>
      </p:sp>
      <p:sp>
        <p:nvSpPr>
          <p:cNvPr id="14" name="OR heading"/>
          <p:cNvSpPr txBox="1"/>
          <p:nvPr/>
        </p:nvSpPr>
        <p:spPr>
          <a:xfrm>
            <a:off x="4700016" y="4023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OR</a:t>
            </a:r>
            <a:endParaRPr lang="en-US" sz="2400" dirty="0"/>
          </a:p>
        </p:txBody>
      </p:sp>
      <p:sp>
        <p:nvSpPr>
          <p:cNvPr id="15" name="OR desc"/>
          <p:cNvSpPr txBox="1"/>
          <p:nvPr/>
        </p:nvSpPr>
        <p:spPr>
          <a:xfrm>
            <a:off x="4700016" y="45262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Bitwise: each result bit is 1 when either input bit is 1.</a:t>
            </a:r>
            <a:endParaRPr lang="en-US" sz="1500" dirty="0"/>
          </a:p>
        </p:txBody>
      </p:sp>
      <p:sp>
        <p:nvSpPr>
          <p:cNvPr id="16" name="OR example"/>
          <p:cNvSpPr txBox="1"/>
          <p:nvPr/>
        </p:nvSpPr>
        <p:spPr>
          <a:xfrm>
            <a:off x="4700016" y="5440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0101 OR 0110 = 0111</a:t>
            </a:r>
            <a:endParaRPr lang="en-US" sz="1400" dirty="0"/>
          </a:p>
        </p:txBody>
      </p:sp>
      <p:sp>
        <p:nvSpPr>
          <p:cNvPr id="17" name="SLT card"/>
          <p:cNvSpPr/>
          <p:nvPr/>
        </p:nvSpPr>
        <p:spPr>
          <a:xfrm>
            <a:off x="7946136" y="2880360"/>
            <a:ext cx="3383280" cy="3154680"/>
          </a:xfrm>
          <a:prstGeom prst="roundRect">
            <a:avLst>
              <a:gd name="adj" fmla="val 231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LT badge"/>
          <p:cNvSpPr/>
          <p:nvPr/>
        </p:nvSpPr>
        <p:spPr>
          <a:xfrm>
            <a:off x="8266176" y="31546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LT symbol"/>
          <p:cNvSpPr txBox="1"/>
          <p:nvPr/>
        </p:nvSpPr>
        <p:spPr>
          <a:xfrm>
            <a:off x="8266176" y="3154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endParaRPr lang="en-US" sz="2400" dirty="0"/>
          </a:p>
        </p:txBody>
      </p:sp>
      <p:sp>
        <p:nvSpPr>
          <p:cNvPr id="20" name="SLT heading"/>
          <p:cNvSpPr txBox="1"/>
          <p:nvPr/>
        </p:nvSpPr>
        <p:spPr>
          <a:xfrm>
            <a:off x="8266176" y="4023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SLT</a:t>
            </a:r>
            <a:endParaRPr lang="en-US" sz="2400" dirty="0"/>
          </a:p>
        </p:txBody>
      </p:sp>
      <p:sp>
        <p:nvSpPr>
          <p:cNvPr id="21" name="SLT desc"/>
          <p:cNvSpPr txBox="1"/>
          <p:nvPr/>
        </p:nvSpPr>
        <p:spPr>
          <a:xfrm>
            <a:off x="8266176" y="45262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Set-Less-Than: result is 0001 if A &lt; B (signed), otherwise 0000.</a:t>
            </a:r>
            <a:endParaRPr lang="en-US" sz="1500" dirty="0"/>
          </a:p>
        </p:txBody>
      </p:sp>
      <p:sp>
        <p:nvSpPr>
          <p:cNvPr id="22" name="SLT example"/>
          <p:cNvSpPr txBox="1"/>
          <p:nvPr/>
        </p:nvSpPr>
        <p:spPr>
          <a:xfrm>
            <a:off x="8266176" y="5440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&lt; 6  →  0001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548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kern="0" spc="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DESIGN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868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The 1-bit ALU slice</a:t>
            </a:r>
            <a:endParaRPr lang="en-US" sz="3600" dirty="0"/>
          </a:p>
        </p:txBody>
      </p:sp>
      <p:sp>
        <p:nvSpPr>
          <p:cNvPr id="4" name="Slice text"/>
          <p:cNvSpPr txBox="1"/>
          <p:nvPr/>
        </p:nvSpPr>
        <p:spPr>
          <a:xfrm>
            <a:off x="813816" y="182880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Each bit position has its own slice. An AND gate, an OR gate and a full adder all work on inputs a and b at once.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Binvert</a:t>
            </a:r>
            <a:r>
              <a:rPr lang="en-US" sz="1600" dirty="0">
                <a:solidFill>
                  <a:schemeClr val="tx2"/>
                </a:solidFill>
              </a:rPr>
              <a:t> feeds b̄ to the adder so it computes a − b for SLT.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A </a:t>
            </a:r>
            <a:r>
              <a:rPr lang="en-US" sz="1600" b="1" dirty="0">
                <a:solidFill>
                  <a:schemeClr val="tx1"/>
                </a:solidFill>
              </a:rPr>
              <a:t>4-to-1 MUX</a:t>
            </a:r>
            <a:r>
              <a:rPr lang="en-US" sz="1600" dirty="0">
                <a:solidFill>
                  <a:schemeClr val="tx2"/>
                </a:solidFill>
              </a:rPr>
              <a:t> with a 2-bit select chooses which signal becomes the slice's result.</a:t>
            </a:r>
            <a:endParaRPr lang="en-US" sz="1600" dirty="0"/>
          </a:p>
        </p:txBody>
      </p:sp>
      <p:sp>
        <p:nvSpPr>
          <p:cNvPr id="5" name="Input a,b"/>
          <p:cNvSpPr/>
          <p:nvPr/>
        </p:nvSpPr>
        <p:spPr>
          <a:xfrm>
            <a:off x="4889500" y="3460750"/>
            <a:ext cx="762000" cy="381000"/>
          </a:xfrm>
          <a:prstGeom prst="roundRect">
            <a:avLst>
              <a:gd name="adj" fmla="val 19200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Input label"/>
          <p:cNvSpPr txBox="1"/>
          <p:nvPr/>
        </p:nvSpPr>
        <p:spPr>
          <a:xfrm>
            <a:off x="4889500" y="346075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b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51500" y="3651250"/>
            <a:ext cx="28575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937250" y="2159000"/>
            <a:ext cx="0" cy="184150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937250" y="2159000"/>
            <a:ext cx="28575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937250" y="3048000"/>
            <a:ext cx="28575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937250" y="4000500"/>
            <a:ext cx="28575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AND"/>
          <p:cNvSpPr/>
          <p:nvPr/>
        </p:nvSpPr>
        <p:spPr>
          <a:xfrm>
            <a:off x="6223000" y="1841500"/>
            <a:ext cx="1397000" cy="635000"/>
          </a:xfrm>
          <a:prstGeom prst="roundRect">
            <a:avLst>
              <a:gd name="adj" fmla="val 11520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AND label"/>
          <p:cNvSpPr txBox="1"/>
          <p:nvPr/>
        </p:nvSpPr>
        <p:spPr>
          <a:xfrm>
            <a:off x="6223000" y="1841500"/>
            <a:ext cx="13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AND</a:t>
            </a:r>
            <a:endParaRPr lang="en-US" sz="1600" dirty="0"/>
          </a:p>
        </p:txBody>
      </p:sp>
      <p:sp>
        <p:nvSpPr>
          <p:cNvPr id="14" name="OR"/>
          <p:cNvSpPr/>
          <p:nvPr/>
        </p:nvSpPr>
        <p:spPr>
          <a:xfrm>
            <a:off x="6223000" y="2730500"/>
            <a:ext cx="1397000" cy="635000"/>
          </a:xfrm>
          <a:prstGeom prst="roundRect">
            <a:avLst>
              <a:gd name="adj" fmla="val 11520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OR label"/>
          <p:cNvSpPr txBox="1"/>
          <p:nvPr/>
        </p:nvSpPr>
        <p:spPr>
          <a:xfrm>
            <a:off x="6223000" y="2730500"/>
            <a:ext cx="13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OR</a:t>
            </a:r>
            <a:endParaRPr lang="en-US" sz="1600" dirty="0"/>
          </a:p>
        </p:txBody>
      </p:sp>
      <p:sp>
        <p:nvSpPr>
          <p:cNvPr id="16" name="Adder"/>
          <p:cNvSpPr/>
          <p:nvPr/>
        </p:nvSpPr>
        <p:spPr>
          <a:xfrm>
            <a:off x="6223000" y="3619500"/>
            <a:ext cx="1397000" cy="762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Adder label"/>
          <p:cNvSpPr txBox="1"/>
          <p:nvPr/>
        </p:nvSpPr>
        <p:spPr>
          <a:xfrm>
            <a:off x="6223000" y="3619500"/>
            <a:ext cx="13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Adder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 b̄ + Cin</a:t>
            </a:r>
            <a:endParaRPr lang="en-US" sz="1600" dirty="0"/>
          </a:p>
        </p:txBody>
      </p:sp>
      <p:sp>
        <p:nvSpPr>
          <p:cNvPr id="18" name="Less (in)"/>
          <p:cNvSpPr/>
          <p:nvPr/>
        </p:nvSpPr>
        <p:spPr>
          <a:xfrm>
            <a:off x="6223000" y="4699000"/>
            <a:ext cx="1397000" cy="571500"/>
          </a:xfrm>
          <a:prstGeom prst="roundRect">
            <a:avLst>
              <a:gd name="adj" fmla="val 12800"/>
            </a:avLst>
          </a:prstGeom>
          <a:solidFill>
            <a:schemeClr val="accent5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Less (in) label"/>
          <p:cNvSpPr txBox="1"/>
          <p:nvPr/>
        </p:nvSpPr>
        <p:spPr>
          <a:xfrm>
            <a:off x="6223000" y="4699000"/>
            <a:ext cx="139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Less (in)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0" y="2159000"/>
            <a:ext cx="762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620000" y="3048000"/>
            <a:ext cx="762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620000" y="4000500"/>
            <a:ext cx="762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620000" y="4984750"/>
            <a:ext cx="762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MUX"/>
          <p:cNvSpPr/>
          <p:nvPr/>
        </p:nvSpPr>
        <p:spPr>
          <a:xfrm>
            <a:off x="8382000" y="1841500"/>
            <a:ext cx="1079500" cy="3429000"/>
          </a:xfrm>
          <a:prstGeom prst="roundRect">
            <a:avLst>
              <a:gd name="adj" fmla="val 6776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MUX in 0"/>
          <p:cNvSpPr txBox="1"/>
          <p:nvPr/>
        </p:nvSpPr>
        <p:spPr>
          <a:xfrm>
            <a:off x="8445500" y="20637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26" name="MUX in 1"/>
          <p:cNvSpPr txBox="1"/>
          <p:nvPr/>
        </p:nvSpPr>
        <p:spPr>
          <a:xfrm>
            <a:off x="8445500" y="29527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MUX in 2"/>
          <p:cNvSpPr txBox="1"/>
          <p:nvPr/>
        </p:nvSpPr>
        <p:spPr>
          <a:xfrm>
            <a:off x="8445500" y="39052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MUX in 3"/>
          <p:cNvSpPr txBox="1"/>
          <p:nvPr/>
        </p:nvSpPr>
        <p:spPr>
          <a:xfrm>
            <a:off x="8445500" y="48895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MUX label"/>
          <p:cNvSpPr txBox="1"/>
          <p:nvPr/>
        </p:nvSpPr>
        <p:spPr>
          <a:xfrm>
            <a:off x="8382000" y="3175000"/>
            <a:ext cx="1079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MUX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4:1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461500" y="3556000"/>
            <a:ext cx="952500" cy="0"/>
          </a:xfrm>
          <a:prstGeom prst="line">
            <a:avLst/>
          </a:prstGeom>
          <a:noFill/>
          <a:ln w="38100">
            <a:solidFill>
              <a:srgbClr val="E8833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sult label"/>
          <p:cNvSpPr txBox="1"/>
          <p:nvPr/>
        </p:nvSpPr>
        <p:spPr>
          <a:xfrm>
            <a:off x="10477500" y="3429000"/>
            <a:ext cx="90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Result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 flipV="1">
            <a:off x="8921750" y="5283200"/>
            <a:ext cx="0" cy="30480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3" name="Op select"/>
          <p:cNvSpPr txBox="1"/>
          <p:nvPr/>
        </p:nvSpPr>
        <p:spPr>
          <a:xfrm>
            <a:off x="7874000" y="5613400"/>
            <a:ext cx="209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 select [1:0]</a:t>
            </a:r>
            <a:endParaRPr lang="en-US" sz="13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548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kern="0" spc="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DESIGN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868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Chaining four slices into a 4-bit ALU</a:t>
            </a:r>
            <a:endParaRPr lang="en-US" sz="3600" dirty="0"/>
          </a:p>
        </p:txBody>
      </p:sp>
      <p:sp>
        <p:nvSpPr>
          <p:cNvPr id="4" name="Chain text"/>
          <p:cNvSpPr txBox="1"/>
          <p:nvPr/>
        </p:nvSpPr>
        <p:spPr>
          <a:xfrm>
            <a:off x="813816" y="173736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Carries ripple from bit 0 to bit 3, and Op select and Binvert reach every slice. For SLT, CarryIn0 = 1 so the adders compute A − B.</a:t>
            </a:r>
            <a:endParaRPr lang="en-US" sz="1600" dirty="0"/>
          </a:p>
        </p:txBody>
      </p:sp>
      <p:sp>
        <p:nvSpPr>
          <p:cNvPr id="5" name="ALU 3 inputs"/>
          <p:cNvSpPr txBox="1"/>
          <p:nvPr/>
        </p:nvSpPr>
        <p:spPr>
          <a:xfrm>
            <a:off x="1270000" y="2508250"/>
            <a:ext cx="177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a3 b3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59000" y="2794000"/>
            <a:ext cx="0" cy="19050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" name="ALU 3"/>
          <p:cNvSpPr/>
          <p:nvPr/>
        </p:nvSpPr>
        <p:spPr>
          <a:xfrm>
            <a:off x="1270000" y="2984500"/>
            <a:ext cx="1778000" cy="1079500"/>
          </a:xfrm>
          <a:prstGeom prst="roundRect">
            <a:avLst>
              <a:gd name="adj" fmla="val 6776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ALU 3 label"/>
          <p:cNvSpPr txBox="1"/>
          <p:nvPr/>
        </p:nvSpPr>
        <p:spPr>
          <a:xfrm>
            <a:off x="1270000" y="2984500"/>
            <a:ext cx="1778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ALU 3</a:t>
            </a:r>
            <a:endParaRPr lang="en-US" sz="20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</a:rPr>
              <a:t>Less = 0</a:t>
            </a:r>
            <a:endParaRPr lang="en-US" sz="20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accent1"/>
                </a:solidFill>
              </a:rPr>
              <a:t>produces Set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13000" y="4064000"/>
            <a:ext cx="0" cy="25400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sult 3"/>
          <p:cNvSpPr txBox="1"/>
          <p:nvPr/>
        </p:nvSpPr>
        <p:spPr>
          <a:xfrm>
            <a:off x="1905000" y="4343400"/>
            <a:ext cx="101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R3</a:t>
            </a:r>
            <a:endParaRPr lang="en-US" sz="1500" dirty="0"/>
          </a:p>
        </p:txBody>
      </p:sp>
      <p:sp>
        <p:nvSpPr>
          <p:cNvPr id="11" name="ALU 2 inputs"/>
          <p:cNvSpPr txBox="1"/>
          <p:nvPr/>
        </p:nvSpPr>
        <p:spPr>
          <a:xfrm>
            <a:off x="3810000" y="2508250"/>
            <a:ext cx="177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 b2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99000" y="2794000"/>
            <a:ext cx="0" cy="19050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ALU 2"/>
          <p:cNvSpPr/>
          <p:nvPr/>
        </p:nvSpPr>
        <p:spPr>
          <a:xfrm>
            <a:off x="3810000" y="2984500"/>
            <a:ext cx="1778000" cy="1079500"/>
          </a:xfrm>
          <a:prstGeom prst="roundRect">
            <a:avLst>
              <a:gd name="adj" fmla="val 6776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ALU 2 label"/>
          <p:cNvSpPr txBox="1"/>
          <p:nvPr/>
        </p:nvSpPr>
        <p:spPr>
          <a:xfrm>
            <a:off x="3810000" y="2984500"/>
            <a:ext cx="1778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ALU 2</a:t>
            </a:r>
            <a:endParaRPr lang="en-US" sz="20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</a:rPr>
              <a:t>Less = 0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699000" y="4064000"/>
            <a:ext cx="0" cy="25400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sult 2"/>
          <p:cNvSpPr txBox="1"/>
          <p:nvPr/>
        </p:nvSpPr>
        <p:spPr>
          <a:xfrm>
            <a:off x="4191000" y="4343400"/>
            <a:ext cx="101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</a:t>
            </a:r>
            <a:endParaRPr lang="en-US" sz="1500" dirty="0"/>
          </a:p>
        </p:txBody>
      </p:sp>
      <p:sp>
        <p:nvSpPr>
          <p:cNvPr id="17" name="ALU 1 inputs"/>
          <p:cNvSpPr txBox="1"/>
          <p:nvPr/>
        </p:nvSpPr>
        <p:spPr>
          <a:xfrm>
            <a:off x="6350000" y="2508250"/>
            <a:ext cx="177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 b1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239000" y="2794000"/>
            <a:ext cx="0" cy="19050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ALU 1"/>
          <p:cNvSpPr/>
          <p:nvPr/>
        </p:nvSpPr>
        <p:spPr>
          <a:xfrm>
            <a:off x="6350000" y="2984500"/>
            <a:ext cx="1778000" cy="1079500"/>
          </a:xfrm>
          <a:prstGeom prst="roundRect">
            <a:avLst>
              <a:gd name="adj" fmla="val 6776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ALU 1 label"/>
          <p:cNvSpPr txBox="1"/>
          <p:nvPr/>
        </p:nvSpPr>
        <p:spPr>
          <a:xfrm>
            <a:off x="6350000" y="2984500"/>
            <a:ext cx="1778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ALU 1</a:t>
            </a:r>
            <a:endParaRPr lang="en-US" sz="20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</a:rPr>
              <a:t>Less = 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239000" y="4064000"/>
            <a:ext cx="0" cy="25400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Result 1"/>
          <p:cNvSpPr txBox="1"/>
          <p:nvPr/>
        </p:nvSpPr>
        <p:spPr>
          <a:xfrm>
            <a:off x="6731000" y="4343400"/>
            <a:ext cx="101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</a:t>
            </a:r>
            <a:endParaRPr lang="en-US" sz="1500" dirty="0"/>
          </a:p>
        </p:txBody>
      </p:sp>
      <p:sp>
        <p:nvSpPr>
          <p:cNvPr id="23" name="ALU 0 inputs"/>
          <p:cNvSpPr txBox="1"/>
          <p:nvPr/>
        </p:nvSpPr>
        <p:spPr>
          <a:xfrm>
            <a:off x="8890000" y="2508250"/>
            <a:ext cx="177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 b0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779000" y="2794000"/>
            <a:ext cx="0" cy="19050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5" name="ALU 0"/>
          <p:cNvSpPr/>
          <p:nvPr/>
        </p:nvSpPr>
        <p:spPr>
          <a:xfrm>
            <a:off x="8890000" y="2984500"/>
            <a:ext cx="1778000" cy="1079500"/>
          </a:xfrm>
          <a:prstGeom prst="roundRect">
            <a:avLst>
              <a:gd name="adj" fmla="val 6776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ALU 0 label"/>
          <p:cNvSpPr txBox="1"/>
          <p:nvPr/>
        </p:nvSpPr>
        <p:spPr>
          <a:xfrm>
            <a:off x="8890000" y="2984500"/>
            <a:ext cx="1778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ALU 0</a:t>
            </a:r>
            <a:endParaRPr lang="en-US" sz="20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accent1"/>
                </a:solidFill>
              </a:rPr>
              <a:t>Less = Set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0033000" y="4064000"/>
            <a:ext cx="0" cy="25400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8" name="Result 0"/>
          <p:cNvSpPr txBox="1"/>
          <p:nvPr/>
        </p:nvSpPr>
        <p:spPr>
          <a:xfrm>
            <a:off x="9525000" y="4343400"/>
            <a:ext cx="101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R0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 flipH="1">
            <a:off x="8128000" y="3524250"/>
            <a:ext cx="762000" cy="0"/>
          </a:xfrm>
          <a:prstGeom prst="line">
            <a:avLst/>
          </a:prstGeom>
          <a:noFill/>
          <a:ln w="25400">
            <a:solidFill>
              <a:srgbClr val="3A6FC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 flipH="1">
            <a:off x="5588000" y="3524250"/>
            <a:ext cx="762000" cy="0"/>
          </a:xfrm>
          <a:prstGeom prst="line">
            <a:avLst/>
          </a:prstGeom>
          <a:noFill/>
          <a:ln w="25400">
            <a:solidFill>
              <a:srgbClr val="3A6FC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 flipH="1">
            <a:off x="3048000" y="3524250"/>
            <a:ext cx="762000" cy="0"/>
          </a:xfrm>
          <a:prstGeom prst="line">
            <a:avLst/>
          </a:prstGeom>
          <a:noFill/>
          <a:ln w="25400">
            <a:solidFill>
              <a:srgbClr val="3A6FC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 flipH="1">
            <a:off x="10668000" y="3524250"/>
            <a:ext cx="711200" cy="0"/>
          </a:xfrm>
          <a:prstGeom prst="line">
            <a:avLst/>
          </a:prstGeom>
          <a:noFill/>
          <a:ln w="25400">
            <a:solidFill>
              <a:srgbClr val="3A6FC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3" name="Cin0"/>
          <p:cNvSpPr txBox="1"/>
          <p:nvPr/>
        </p:nvSpPr>
        <p:spPr>
          <a:xfrm>
            <a:off x="10731500" y="3206750"/>
            <a:ext cx="647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Cin0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651000" y="4064000"/>
            <a:ext cx="0" cy="952500"/>
          </a:xfrm>
          <a:prstGeom prst="line">
            <a:avLst/>
          </a:prstGeom>
          <a:noFill/>
          <a:ln w="38100">
            <a:solidFill>
              <a:srgbClr val="E883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1651000" y="5016500"/>
            <a:ext cx="7747000" cy="0"/>
          </a:xfrm>
          <a:prstGeom prst="line">
            <a:avLst/>
          </a:prstGeom>
          <a:noFill/>
          <a:ln w="38100">
            <a:solidFill>
              <a:srgbClr val="E883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 flipV="1">
            <a:off x="9398000" y="4076700"/>
            <a:ext cx="0" cy="939800"/>
          </a:xfrm>
          <a:prstGeom prst="line">
            <a:avLst/>
          </a:prstGeom>
          <a:noFill/>
          <a:ln w="38100">
            <a:solidFill>
              <a:srgbClr val="E8833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7" name="Set caption"/>
          <p:cNvSpPr txBox="1"/>
          <p:nvPr/>
        </p:nvSpPr>
        <p:spPr>
          <a:xfrm>
            <a:off x="2540000" y="5130800"/>
            <a:ext cx="609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Set = sign bit of A − B, fed back to the Less input of bit 0</a:t>
            </a:r>
            <a:endParaRPr lang="en-US" sz="15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548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kern="0" spc="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WORKING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868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How the select lines drive each operation</a:t>
            </a:r>
            <a:endParaRPr lang="en-US" sz="3600" dirty="0"/>
          </a:p>
        </p:txBody>
      </p:sp>
      <p:graphicFrame>
        <p:nvGraphicFramePr>
          <p:cNvPr id="6" name="Control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828800"/>
          <a:ext cx="576072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Operation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Binvert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Op[1:0]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Output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AND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 AND B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OR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 OR B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SLT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0001 if A &lt; B, else 0000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able note"/>
          <p:cNvSpPr txBox="1"/>
          <p:nvPr/>
        </p:nvSpPr>
        <p:spPr>
          <a:xfrm>
            <a:off x="813816" y="397764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For SLT, Binvert = 1 and CarryIn0 = 1 make every adder compute A + B̄ + 1 = A − B. The MUX in each slice passes its Less input, so only bit 0 can be 1.</a:t>
            </a:r>
            <a:endParaRPr lang="en-US" sz="1500" dirty="0"/>
          </a:p>
        </p:txBody>
      </p:sp>
      <p:sp>
        <p:nvSpPr>
          <p:cNvPr id="4" name="Example card"/>
          <p:cNvSpPr/>
          <p:nvPr/>
        </p:nvSpPr>
        <p:spPr>
          <a:xfrm>
            <a:off x="6949440" y="1828800"/>
            <a:ext cx="4434840" cy="3520440"/>
          </a:xfrm>
          <a:prstGeom prst="roundRect">
            <a:avLst>
              <a:gd name="adj" fmla="val 2078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Example text"/>
          <p:cNvSpPr txBox="1"/>
          <p:nvPr/>
        </p:nvSpPr>
        <p:spPr>
          <a:xfrm>
            <a:off x="7269480" y="210312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0101 (5)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0110 (6)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→ 0100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 → 0111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SLT: 0101 + 1001 + 1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 1111 → sign 1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SLT → 0001 (5 &lt; 6)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548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kern="0" spc="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APPLICATIONS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868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Where this ALU is used</a:t>
            </a:r>
            <a:endParaRPr lang="en-US" sz="3600" dirty="0"/>
          </a:p>
        </p:txBody>
      </p:sp>
      <p:sp>
        <p:nvSpPr>
          <p:cNvPr id="4" name="CPU instructions card"/>
          <p:cNvSpPr/>
          <p:nvPr/>
        </p:nvSpPr>
        <p:spPr>
          <a:xfrm>
            <a:off x="813816" y="1828800"/>
            <a:ext cx="51663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CPU instructions icon bg"/>
          <p:cNvSpPr/>
          <p:nvPr/>
        </p:nvSpPr>
        <p:spPr>
          <a:xfrm>
            <a:off x="1133856" y="214884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CPU instruction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36" y="2331720"/>
            <a:ext cx="365760" cy="365760"/>
          </a:xfrm>
          <a:prstGeom prst="rect">
            <a:avLst/>
          </a:prstGeom>
        </p:spPr>
      </p:pic>
      <p:sp>
        <p:nvSpPr>
          <p:cNvPr id="7" name="CPU instructions heading"/>
          <p:cNvSpPr txBox="1"/>
          <p:nvPr/>
        </p:nvSpPr>
        <p:spPr>
          <a:xfrm>
            <a:off x="2093976" y="21488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CPU instructions</a:t>
            </a:r>
            <a:endParaRPr lang="en-US" sz="2000" dirty="0"/>
          </a:p>
        </p:txBody>
      </p:sp>
      <p:sp>
        <p:nvSpPr>
          <p:cNvPr id="8" name="CPU instructions desc"/>
          <p:cNvSpPr txBox="1"/>
          <p:nvPr/>
        </p:nvSpPr>
        <p:spPr>
          <a:xfrm>
            <a:off x="2093976" y="260604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Implements MIPS/RISC-V and, or and slt; slt plus a branch gives if (a &lt; b) decisions.</a:t>
            </a:r>
            <a:endParaRPr lang="en-US" sz="1500" dirty="0"/>
          </a:p>
        </p:txBody>
      </p:sp>
      <p:sp>
        <p:nvSpPr>
          <p:cNvPr id="9" name="Bit masking card"/>
          <p:cNvSpPr/>
          <p:nvPr/>
        </p:nvSpPr>
        <p:spPr>
          <a:xfrm>
            <a:off x="6208776" y="1828800"/>
            <a:ext cx="51663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Bit masking icon bg"/>
          <p:cNvSpPr/>
          <p:nvPr/>
        </p:nvSpPr>
        <p:spPr>
          <a:xfrm>
            <a:off x="6528816" y="214884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Bit masking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696" y="2331720"/>
            <a:ext cx="365760" cy="365760"/>
          </a:xfrm>
          <a:prstGeom prst="rect">
            <a:avLst/>
          </a:prstGeom>
        </p:spPr>
      </p:pic>
      <p:sp>
        <p:nvSpPr>
          <p:cNvPr id="12" name="Bit masking heading"/>
          <p:cNvSpPr txBox="1"/>
          <p:nvPr/>
        </p:nvSpPr>
        <p:spPr>
          <a:xfrm>
            <a:off x="7488936" y="21488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Bit masking</a:t>
            </a:r>
            <a:endParaRPr lang="en-US" sz="2000" dirty="0"/>
          </a:p>
        </p:txBody>
      </p:sp>
      <p:sp>
        <p:nvSpPr>
          <p:cNvPr id="13" name="Bit masking desc"/>
          <p:cNvSpPr txBox="1"/>
          <p:nvPr/>
        </p:nvSpPr>
        <p:spPr>
          <a:xfrm>
            <a:off x="7488936" y="260604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AND clears or tests bits; OR sets flags in control and status registers.</a:t>
            </a:r>
            <a:endParaRPr lang="en-US" sz="1500" dirty="0"/>
          </a:p>
        </p:txBody>
      </p:sp>
      <p:sp>
        <p:nvSpPr>
          <p:cNvPr id="14" name="Comparison &amp; sorting card"/>
          <p:cNvSpPr/>
          <p:nvPr/>
        </p:nvSpPr>
        <p:spPr>
          <a:xfrm>
            <a:off x="813816" y="4023360"/>
            <a:ext cx="51663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Comparison &amp; sorting icon bg"/>
          <p:cNvSpPr/>
          <p:nvPr/>
        </p:nvSpPr>
        <p:spPr>
          <a:xfrm>
            <a:off x="1133856" y="434340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Comparison &amp; sorting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6736" y="4526280"/>
            <a:ext cx="365760" cy="365760"/>
          </a:xfrm>
          <a:prstGeom prst="rect">
            <a:avLst/>
          </a:prstGeom>
        </p:spPr>
      </p:pic>
      <p:sp>
        <p:nvSpPr>
          <p:cNvPr id="17" name="Comparison &amp;amp; sorting heading"/>
          <p:cNvSpPr txBox="1"/>
          <p:nvPr/>
        </p:nvSpPr>
        <p:spPr>
          <a:xfrm>
            <a:off x="2093976" y="43434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Comparison &amp; sorting</a:t>
            </a:r>
            <a:endParaRPr lang="en-US" sz="2000" dirty="0"/>
          </a:p>
        </p:txBody>
      </p:sp>
      <p:sp>
        <p:nvSpPr>
          <p:cNvPr id="18" name="Comparison &amp;amp; sorting desc"/>
          <p:cNvSpPr txBox="1"/>
          <p:nvPr/>
        </p:nvSpPr>
        <p:spPr>
          <a:xfrm>
            <a:off x="2093976" y="48006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SLT finds min/max values and drives sorting in embedded and DSP chips.</a:t>
            </a:r>
            <a:endParaRPr lang="en-US" sz="1500" dirty="0"/>
          </a:p>
        </p:txBody>
      </p:sp>
      <p:sp>
        <p:nvSpPr>
          <p:cNvPr id="19" name="Scalable building block card"/>
          <p:cNvSpPr/>
          <p:nvPr/>
        </p:nvSpPr>
        <p:spPr>
          <a:xfrm>
            <a:off x="6208776" y="4023360"/>
            <a:ext cx="51663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calable building block icon bg"/>
          <p:cNvSpPr/>
          <p:nvPr/>
        </p:nvSpPr>
        <p:spPr>
          <a:xfrm>
            <a:off x="6528816" y="434340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Scalable building block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1696" y="4526280"/>
            <a:ext cx="365760" cy="365760"/>
          </a:xfrm>
          <a:prstGeom prst="rect">
            <a:avLst/>
          </a:prstGeom>
        </p:spPr>
      </p:pic>
      <p:sp>
        <p:nvSpPr>
          <p:cNvPr id="22" name="Scalable building block heading"/>
          <p:cNvSpPr txBox="1"/>
          <p:nvPr/>
        </p:nvSpPr>
        <p:spPr>
          <a:xfrm>
            <a:off x="7488936" y="43434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Scalable building block</a:t>
            </a:r>
            <a:endParaRPr lang="en-US" sz="2000" dirty="0"/>
          </a:p>
        </p:txBody>
      </p:sp>
      <p:sp>
        <p:nvSpPr>
          <p:cNvPr id="23" name="Scalable building block desc"/>
          <p:cNvSpPr txBox="1"/>
          <p:nvPr/>
        </p:nvSpPr>
        <p:spPr>
          <a:xfrm>
            <a:off x="7488936" y="48006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The same slice repeats to build 8-, 16- or 32-bit ALUs in FPGAs and processors.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 eyebrow"/>
          <p:cNvSpPr txBox="1"/>
          <p:nvPr/>
        </p:nvSpPr>
        <p:spPr>
          <a:xfrm>
            <a:off x="813816" y="2103120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SLT(you, questions) = 0001</a:t>
            </a:r>
            <a:endParaRPr lang="en-US" sz="1500" dirty="0"/>
          </a:p>
        </p:txBody>
      </p:sp>
      <p:sp>
        <p:nvSpPr>
          <p:cNvPr id="3" name="Thanks title"/>
          <p:cNvSpPr txBox="1"/>
          <p:nvPr/>
        </p:nvSpPr>
        <p:spPr>
          <a:xfrm>
            <a:off x="813816" y="2606040"/>
            <a:ext cx="10561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chemeClr val="bg1"/>
                </a:solidFill>
              </a:rPr>
              <a:t>Thank You</a:t>
            </a:r>
            <a:endParaRPr lang="en-US" sz="7200" dirty="0"/>
          </a:p>
        </p:txBody>
      </p:sp>
      <p:sp>
        <p:nvSpPr>
          <p:cNvPr id="4" name="Thanks sub"/>
          <p:cNvSpPr txBox="1"/>
          <p:nvPr/>
        </p:nvSpPr>
        <p:spPr>
          <a:xfrm>
            <a:off x="813816" y="402336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accent4"/>
                </a:solidFill>
              </a:rPr>
              <a:t>Questions?</a:t>
            </a:r>
            <a:endParaRPr lang="en-US" sz="2400" dirty="0"/>
          </a:p>
        </p:txBody>
      </p:sp>
      <p:sp>
        <p:nvSpPr>
          <p:cNvPr id="6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1737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22402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5400" dirty="0"/>
          </a:p>
        </p:txBody>
      </p:sp>
      <p:sp>
        <p:nvSpPr>
          <p:cNvPr id="8" name="Text 0"/>
          <p:cNvSpPr>
            <a:spLocks noGrp="1"/>
          </p:cNvSpPr>
          <p:nvPr>
            <p:ph type="body" idx="102" hasCustomPrompt="1"/>
          </p:nvPr>
        </p:nvSpPr>
        <p:spPr>
          <a:xfrm>
            <a:off x="813816" y="35204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9" name="Text 0"/>
          <p:cNvSpPr>
            <a:spLocks noGrp="1"/>
          </p:cNvSpPr>
          <p:nvPr>
            <p:ph type="body" idx="103" hasCustomPrompt="1"/>
          </p:nvPr>
        </p:nvSpPr>
        <p:spPr>
          <a:xfrm>
            <a:off x="813816" y="4937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U Navy">
  <a:themeElements>
    <a:clrScheme name="ALU Navy">
      <a:dk1>
        <a:srgbClr val="14213D"/>
      </a:dk1>
      <a:lt1>
        <a:srgbClr val="FFFFFF"/>
      </a:lt1>
      <a:dk2>
        <a:srgbClr val="4A5568"/>
      </a:dk2>
      <a:lt2>
        <a:srgbClr val="F1F4F9"/>
      </a:lt2>
      <a:accent1>
        <a:srgbClr val="E8833A"/>
      </a:accent1>
      <a:accent2>
        <a:srgbClr val="3A6FC4"/>
      </a:accent2>
      <a:accent3>
        <a:srgbClr val="C2621F"/>
      </a:accent3>
      <a:accent4>
        <a:srgbClr val="BFCBE0"/>
      </a:accent4>
      <a:accent5>
        <a:srgbClr val="FCE9DA"/>
      </a:accent5>
      <a:accent6>
        <a:srgbClr val="D5DBE6"/>
      </a:accent6>
      <a:hlink>
        <a:srgbClr val="3A6FC4"/>
      </a:hlink>
      <a:folHlink>
        <a:srgbClr val="6B4FA0"/>
      </a:folHlink>
    </a:clrScheme>
    <a:fontScheme name="ALU Nav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955</Words>
  <Application>Microsoft Office PowerPoint</Application>
  <PresentationFormat>Widescreen</PresentationFormat>
  <Paragraphs>126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Courier New</vt:lpstr>
      <vt:lpstr>ALU Navy</vt:lpstr>
      <vt:lpstr>Designing a 4-bit ALU</vt:lpstr>
      <vt:lpstr>What the ALU does</vt:lpstr>
      <vt:lpstr>The 1-bit ALU slice</vt:lpstr>
      <vt:lpstr>Chaining four slices into a 4-bit ALU</vt:lpstr>
      <vt:lpstr>How the select lines drive each operation</vt:lpstr>
      <vt:lpstr>Where this ALU is used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 a 4-bit ALU</dc:title>
  <dc:subject>PptxGenJS Presentation</dc:subject>
  <dc:creator>PptxGenJS</dc:creator>
  <cp:lastModifiedBy>Shiva Sai</cp:lastModifiedBy>
  <cp:revision>2</cp:revision>
  <dcterms:created xsi:type="dcterms:W3CDTF">2026-10-14T12:29:17Z</dcterms:created>
  <dcterms:modified xsi:type="dcterms:W3CDTF">2026-10-14T12:35:22Z</dcterms:modified>
</cp:coreProperties>
</file>